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64" r:id="rId3"/>
    <p:sldId id="265" r:id="rId4"/>
    <p:sldId id="266" r:id="rId5"/>
    <p:sldId id="267" r:id="rId6"/>
    <p:sldId id="268" r:id="rId7"/>
    <p:sldId id="278" r:id="rId8"/>
    <p:sldId id="279" r:id="rId9"/>
    <p:sldId id="280" r:id="rId10"/>
    <p:sldId id="281" r:id="rId11"/>
    <p:sldId id="282" r:id="rId12"/>
    <p:sldId id="269" r:id="rId13"/>
    <p:sldId id="270" r:id="rId14"/>
    <p:sldId id="283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86" r:id="rId23"/>
    <p:sldId id="284" r:id="rId24"/>
    <p:sldId id="285" r:id="rId25"/>
    <p:sldId id="263" r:id="rId26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000" autoAdjust="0"/>
  </p:normalViewPr>
  <p:slideViewPr>
    <p:cSldViewPr>
      <p:cViewPr varScale="1">
        <p:scale>
          <a:sx n="68" d="100"/>
          <a:sy n="68" d="100"/>
        </p:scale>
        <p:origin x="-12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4B7D-38D6-43AA-8877-F50B9572719E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4A6BB-0F7D-4385-B260-9E7393E0BCB5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Excel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</a:t>
            </a:fld>
            <a:endParaRPr 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GML – elements</a:t>
            </a:r>
          </a:p>
          <a:p>
            <a:r>
              <a:rPr lang="en-US" dirty="0" smtClean="0"/>
              <a:t>SGML is the basis of HTML</a:t>
            </a:r>
          </a:p>
          <a:p>
            <a:r>
              <a:rPr lang="en-US" dirty="0" smtClean="0"/>
              <a:t>XML – less formatting more structure</a:t>
            </a:r>
          </a:p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3</a:t>
            </a:fld>
            <a:endParaRPr 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name</a:t>
            </a:r>
            <a:r>
              <a:rPr lang="en-US" baseline="0" dirty="0" smtClean="0"/>
              <a:t> = “login”</a:t>
            </a:r>
          </a:p>
          <a:p>
            <a:r>
              <a:rPr lang="en-US" baseline="0" dirty="0" smtClean="0"/>
              <a:t>name = “</a:t>
            </a:r>
            <a:r>
              <a:rPr lang="en-US" baseline="0" dirty="0" err="1" smtClean="0"/>
              <a:t>userName</a:t>
            </a:r>
            <a:r>
              <a:rPr lang="en-US" baseline="0" dirty="0" smtClean="0"/>
              <a:t>”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15</a:t>
            </a:fld>
            <a:endParaRPr 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example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19</a:t>
            </a:fld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0127-A3CF-46A3-B32F-53FCF31F7EBC}" type="datetimeFigureOut">
              <a:rPr lang="th-TH" smtClean="0"/>
              <a:pPr/>
              <a:t>30/05/55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schools.com/cs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bdr.cmu.edu/experiments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://cc-web.isri.cmu.edu/Panopto/Pages/Viewer/Default.aspx?id=9b8fdcaf-2179-4720-a9d5-41d5a97d54d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424936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Java &amp; J2EE</a:t>
            </a:r>
            <a:br>
              <a:rPr lang="en-US" dirty="0" smtClean="0"/>
            </a:br>
            <a:r>
              <a:rPr lang="en-US" dirty="0" smtClean="0"/>
              <a:t>Lecture 21: JavaScript &amp; DOM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3568" y="3886200"/>
            <a:ext cx="6400800" cy="1752600"/>
          </a:xfrm>
        </p:spPr>
        <p:txBody>
          <a:bodyPr/>
          <a:lstStyle/>
          <a:p>
            <a:r>
              <a:rPr lang="en-US" dirty="0" err="1" smtClean="0"/>
              <a:t>Peratham</a:t>
            </a:r>
            <a:r>
              <a:rPr lang="en-US" dirty="0" smtClean="0"/>
              <a:t> </a:t>
            </a:r>
            <a:r>
              <a:rPr lang="en-US" dirty="0" err="1" smtClean="0"/>
              <a:t>Wiriyathammabhu</a:t>
            </a:r>
            <a:r>
              <a:rPr lang="en-US" dirty="0" err="1"/>
              <a:t>m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What’s the difference between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HTML</a:t>
            </a:r>
          </a:p>
          <a:p>
            <a:pPr lvl="1"/>
            <a:r>
              <a:rPr lang="en-US" dirty="0" smtClean="0"/>
              <a:t>XML</a:t>
            </a:r>
          </a:p>
          <a:p>
            <a:pPr lvl="1"/>
            <a:r>
              <a:rPr lang="en-US" dirty="0" smtClean="0"/>
              <a:t>XHTML</a:t>
            </a:r>
            <a:endParaRPr lang="th-T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 Up Languages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 smtClean="0"/>
              <a:t>GML</a:t>
            </a:r>
            <a:r>
              <a:rPr lang="en-US" dirty="0" smtClean="0"/>
              <a:t> – Generalized Markup Language (IBM in the mid 1960s)</a:t>
            </a:r>
          </a:p>
          <a:p>
            <a:r>
              <a:rPr lang="en-US" b="1" dirty="0" smtClean="0"/>
              <a:t>SGML</a:t>
            </a:r>
            <a:r>
              <a:rPr lang="en-US" dirty="0" smtClean="0"/>
              <a:t> – Standard Generalized Markup Language (ISO in the late 1980s)</a:t>
            </a:r>
          </a:p>
          <a:p>
            <a:r>
              <a:rPr lang="en-US" b="1" dirty="0" smtClean="0"/>
              <a:t>HTML</a:t>
            </a:r>
            <a:r>
              <a:rPr lang="en-US" dirty="0" smtClean="0"/>
              <a:t> – Hypertext Markup Language (CERN early-1990s)</a:t>
            </a:r>
          </a:p>
          <a:p>
            <a:r>
              <a:rPr lang="en-US" b="1" dirty="0" smtClean="0"/>
              <a:t>XML</a:t>
            </a:r>
            <a:r>
              <a:rPr lang="en-US" dirty="0" smtClean="0"/>
              <a:t> – Extensible Markup Language (ISO late-1990s)</a:t>
            </a:r>
          </a:p>
          <a:p>
            <a:r>
              <a:rPr lang="en-US" b="1" dirty="0" smtClean="0"/>
              <a:t>XHTML</a:t>
            </a:r>
            <a:r>
              <a:rPr lang="en-US" dirty="0" smtClean="0"/>
              <a:t> – Extensible Hypertext Markup Language (W3C early - 2000s)</a:t>
            </a:r>
            <a:endParaRPr lang="th-T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XML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Machine Readable Document Encoding</a:t>
            </a:r>
          </a:p>
          <a:p>
            <a:r>
              <a:rPr lang="en-US" dirty="0" smtClean="0"/>
              <a:t>Similar to HTML</a:t>
            </a:r>
          </a:p>
          <a:p>
            <a:pPr lvl="1"/>
            <a:r>
              <a:rPr lang="en-US" dirty="0" smtClean="0"/>
              <a:t>Markup and content</a:t>
            </a:r>
          </a:p>
          <a:p>
            <a:pPr lvl="1"/>
            <a:r>
              <a:rPr lang="en-US" dirty="0" smtClean="0"/>
              <a:t>Tags (e.g., &lt;item&gt;)</a:t>
            </a:r>
          </a:p>
          <a:p>
            <a:pPr lvl="1"/>
            <a:r>
              <a:rPr lang="en-US" dirty="0" smtClean="0"/>
              <a:t>Elements (e.g., &lt;item&gt;content&lt;/item&gt;)</a:t>
            </a:r>
          </a:p>
          <a:p>
            <a:pPr lvl="1"/>
            <a:r>
              <a:rPr lang="en-US" dirty="0" smtClean="0"/>
              <a:t>Attributes (e.g., &lt;</a:t>
            </a:r>
            <a:r>
              <a:rPr lang="en-US" dirty="0" err="1" smtClean="0"/>
              <a:t>img</a:t>
            </a:r>
            <a:r>
              <a:rPr lang="en-US" dirty="0" smtClean="0"/>
              <a:t> </a:t>
            </a:r>
            <a:r>
              <a:rPr lang="en-US" dirty="0" err="1" smtClean="0"/>
              <a:t>src</a:t>
            </a:r>
            <a:r>
              <a:rPr lang="en-US" dirty="0" smtClean="0"/>
              <a:t> = “obama.jpg”/&gt;)</a:t>
            </a:r>
          </a:p>
          <a:p>
            <a:r>
              <a:rPr lang="en-US" dirty="0" smtClean="0"/>
              <a:t>Tag semantics are not part of the document</a:t>
            </a:r>
          </a:p>
          <a:p>
            <a:r>
              <a:rPr lang="en-US" dirty="0" smtClean="0"/>
              <a:t>XML rules:</a:t>
            </a:r>
          </a:p>
          <a:p>
            <a:pPr lvl="1"/>
            <a:r>
              <a:rPr lang="en-US" dirty="0" smtClean="0"/>
              <a:t>All tags closed</a:t>
            </a:r>
          </a:p>
          <a:p>
            <a:pPr lvl="1"/>
            <a:r>
              <a:rPr lang="en-US" dirty="0" smtClean="0"/>
              <a:t>Case sensitive</a:t>
            </a:r>
          </a:p>
          <a:p>
            <a:pPr lvl="1"/>
            <a:r>
              <a:rPr lang="en-US" dirty="0" smtClean="0"/>
              <a:t>Well-formed attributes</a:t>
            </a:r>
          </a:p>
          <a:p>
            <a:pPr lvl="1"/>
            <a:r>
              <a:rPr lang="en-US" dirty="0" smtClean="0"/>
              <a:t>…and more</a:t>
            </a:r>
            <a:endParaRPr lang="th-T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HTML + XML = XHTML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XHTML is HTML following XML rules</a:t>
            </a:r>
            <a:endParaRPr lang="th-TH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Goal of CSS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Separate document structure from formatting</a:t>
            </a:r>
          </a:p>
          <a:p>
            <a:r>
              <a:rPr lang="en-US" dirty="0" smtClean="0"/>
              <a:t>Document structure is in XML</a:t>
            </a:r>
          </a:p>
          <a:p>
            <a:r>
              <a:rPr lang="en-US" dirty="0" smtClean="0"/>
              <a:t>The formatting is specified in CSS</a:t>
            </a:r>
            <a:endParaRPr lang="th-T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Cascading Style Sheets (CSS)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“style” to specify/override formatting options of HTML elements</a:t>
            </a:r>
          </a:p>
          <a:p>
            <a:r>
              <a:rPr lang="en-US" dirty="0" smtClean="0"/>
              <a:t>For example, you can modify formatting of</a:t>
            </a:r>
          </a:p>
          <a:p>
            <a:pPr lvl="1"/>
            <a:r>
              <a:rPr lang="en-US" dirty="0" smtClean="0"/>
              <a:t>Fonts: color, size, bold/italic, fixed width, etc.</a:t>
            </a:r>
          </a:p>
          <a:p>
            <a:pPr lvl="1"/>
            <a:r>
              <a:rPr lang="en-US" dirty="0" smtClean="0"/>
              <a:t>Anchors/</a:t>
            </a:r>
            <a:r>
              <a:rPr lang="en-US" dirty="0" err="1" smtClean="0"/>
              <a:t>hrefs</a:t>
            </a:r>
            <a:r>
              <a:rPr lang="en-US" dirty="0" smtClean="0"/>
              <a:t>: color, underline</a:t>
            </a:r>
          </a:p>
          <a:p>
            <a:pPr lvl="1"/>
            <a:r>
              <a:rPr lang="en-US" dirty="0" smtClean="0"/>
              <a:t>Tables: borders, padding, background color</a:t>
            </a:r>
            <a:endParaRPr lang="th-T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Name/value pairs</a:t>
            </a:r>
          </a:p>
          <a:p>
            <a:pPr lvl="1"/>
            <a:r>
              <a:rPr lang="en-US" dirty="0" smtClean="0"/>
              <a:t>Format: &lt;name&gt;: &lt;value&gt; ;</a:t>
            </a:r>
            <a:endParaRPr lang="th-TH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to Declare CSS Styles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Inline: use style attribute in HTML tags:</a:t>
            </a:r>
          </a:p>
          <a:p>
            <a:pPr lvl="1"/>
            <a:r>
              <a:rPr lang="en-US" dirty="0" smtClean="0"/>
              <a:t>Example: &lt;td style=“font-size: large;”&gt;</a:t>
            </a:r>
          </a:p>
          <a:p>
            <a:pPr lvl="1"/>
            <a:r>
              <a:rPr lang="en-US" dirty="0" smtClean="0"/>
              <a:t>Modified one tag</a:t>
            </a:r>
          </a:p>
          <a:p>
            <a:r>
              <a:rPr lang="en-US" dirty="0" smtClean="0"/>
              <a:t>Document-level in the HTML header</a:t>
            </a:r>
          </a:p>
          <a:p>
            <a:r>
              <a:rPr lang="en-US" dirty="0" smtClean="0"/>
              <a:t>File-level in a CSS file, referenced in the header</a:t>
            </a:r>
          </a:p>
          <a:p>
            <a:r>
              <a:rPr lang="en-US" dirty="0" smtClean="0"/>
              <a:t>At doc-level &amp; file-level:</a:t>
            </a:r>
          </a:p>
          <a:p>
            <a:pPr lvl="1"/>
            <a:r>
              <a:rPr lang="en-US" dirty="0" smtClean="0"/>
              <a:t>Declare modifications to all tags of a type, and/or</a:t>
            </a:r>
          </a:p>
          <a:p>
            <a:pPr lvl="1"/>
            <a:r>
              <a:rPr lang="en-US" dirty="0" smtClean="0"/>
              <a:t>Declare a class, which can be applied to tags in the document</a:t>
            </a:r>
          </a:p>
          <a:p>
            <a:pPr lvl="1"/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.header-</a:t>
            </a:r>
            <a:r>
              <a:rPr lang="en-US" dirty="0" err="1" smtClean="0"/>
              <a:t>href</a:t>
            </a:r>
            <a:r>
              <a:rPr lang="en-US" dirty="0" smtClean="0"/>
              <a:t> { text-decoration: none; }</a:t>
            </a:r>
          </a:p>
          <a:p>
            <a:pPr lvl="1">
              <a:buNone/>
            </a:pPr>
            <a:r>
              <a:rPr lang="en-US" dirty="0" smtClean="0"/>
              <a:t>&lt;a class=“header-</a:t>
            </a:r>
            <a:r>
              <a:rPr lang="en-US" dirty="0" err="1" smtClean="0"/>
              <a:t>href</a:t>
            </a:r>
            <a:r>
              <a:rPr lang="en-US" dirty="0" smtClean="0"/>
              <a:t>” </a:t>
            </a:r>
            <a:r>
              <a:rPr lang="en-US" dirty="0" err="1" smtClean="0"/>
              <a:t>href</a:t>
            </a:r>
            <a:r>
              <a:rPr lang="en-US" dirty="0" smtClean="0"/>
              <a:t>=“blah.html”&gt;Blah&lt;/a&gt;</a:t>
            </a:r>
            <a:endParaRPr lang="th-TH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&lt;div&gt; and &lt;span&gt; tags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Sometimes you just want to change the style of the content, but you don’t otherwise have a tag</a:t>
            </a:r>
          </a:p>
          <a:p>
            <a:pPr lvl="1"/>
            <a:r>
              <a:rPr lang="en-US" dirty="0" smtClean="0"/>
              <a:t>Use a &lt;div&gt; or a &lt;span&gt; tag</a:t>
            </a:r>
          </a:p>
          <a:p>
            <a:pPr lvl="1"/>
            <a:r>
              <a:rPr lang="en-US" dirty="0" smtClean="0"/>
              <a:t>The &lt;div&gt; tag breaks lines</a:t>
            </a:r>
          </a:p>
          <a:p>
            <a:pPr lvl="1"/>
            <a:r>
              <a:rPr lang="en-US" dirty="0" smtClean="0"/>
              <a:t>The &lt;span&gt; tag is “in” the current text line</a:t>
            </a:r>
          </a:p>
          <a:p>
            <a:pPr lvl="1"/>
            <a:r>
              <a:rPr lang="en-US" dirty="0" smtClean="0"/>
              <a:t>They do nothing, but allow you to specify CSS</a:t>
            </a:r>
            <a:endParaRPr lang="th-T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 Resources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Google generally</a:t>
            </a:r>
          </a:p>
          <a:p>
            <a:r>
              <a:rPr lang="en-US" dirty="0" smtClean="0"/>
              <a:t>Also: </a:t>
            </a:r>
            <a:r>
              <a:rPr lang="en-US" dirty="0" smtClean="0">
                <a:hlinkClick r:id="rId2"/>
              </a:rPr>
              <a:t>http://www.w3schools.com/css</a:t>
            </a:r>
            <a:endParaRPr lang="en-US" dirty="0" smtClean="0"/>
          </a:p>
          <a:p>
            <a:r>
              <a:rPr lang="en-US" dirty="0" smtClean="0"/>
              <a:t>HTML editing tools like Dreamweaver</a:t>
            </a:r>
            <a:endParaRPr lang="th-TH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JavaScript is not Java</a:t>
            </a:r>
          </a:p>
          <a:p>
            <a:pPr lvl="1"/>
            <a:r>
              <a:rPr lang="en-US" dirty="0" smtClean="0"/>
              <a:t>JavaScript is interpreted</a:t>
            </a:r>
          </a:p>
          <a:p>
            <a:pPr lvl="1"/>
            <a:r>
              <a:rPr lang="en-US" dirty="0" smtClean="0"/>
              <a:t>JavaScript is dynamically typed</a:t>
            </a:r>
          </a:p>
          <a:p>
            <a:r>
              <a:rPr lang="en-US" dirty="0" smtClean="0"/>
              <a:t>JavaScript </a:t>
            </a:r>
          </a:p>
          <a:p>
            <a:pPr lvl="1"/>
            <a:r>
              <a:rPr lang="en-US" dirty="0" smtClean="0"/>
              <a:t>Looks like Java (both use “C” syntax)</a:t>
            </a:r>
          </a:p>
          <a:p>
            <a:pPr lvl="1"/>
            <a:r>
              <a:rPr lang="en-US" dirty="0" smtClean="0"/>
              <a:t>Has “objects” (objects have named properties)</a:t>
            </a:r>
          </a:p>
          <a:p>
            <a:pPr lvl="1"/>
            <a:r>
              <a:rPr lang="en-US" dirty="0" smtClean="0"/>
              <a:t>Functions are objects and can </a:t>
            </a:r>
            <a:r>
              <a:rPr lang="en-US" smtClean="0"/>
              <a:t>be properties</a:t>
            </a:r>
            <a:endParaRPr lang="en-US" dirty="0" smtClean="0"/>
          </a:p>
          <a:p>
            <a:endParaRPr lang="th-TH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Where the JavaScript Goes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Declare it in the document</a:t>
            </a:r>
          </a:p>
          <a:p>
            <a:pPr lvl="1"/>
            <a:r>
              <a:rPr lang="en-US" dirty="0" smtClean="0"/>
              <a:t>Declare it in &lt;script&gt; &lt;/script&gt; tags</a:t>
            </a:r>
          </a:p>
          <a:p>
            <a:pPr lvl="1"/>
            <a:r>
              <a:rPr lang="en-US" dirty="0" smtClean="0"/>
              <a:t>Declare it in a separate .</a:t>
            </a:r>
            <a:r>
              <a:rPr lang="en-US" dirty="0" err="1" smtClean="0"/>
              <a:t>js</a:t>
            </a:r>
            <a:r>
              <a:rPr lang="en-US" dirty="0" smtClean="0"/>
              <a:t> file</a:t>
            </a:r>
          </a:p>
          <a:p>
            <a:pPr lvl="1"/>
            <a:r>
              <a:rPr lang="en-US" dirty="0" smtClean="0"/>
              <a:t>Typically, put the &lt;script&gt; tags in the &lt;head&gt; section of the HTML document</a:t>
            </a:r>
            <a:endParaRPr lang="th-TH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Language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Variables (</a:t>
            </a:r>
            <a:r>
              <a:rPr lang="en-US" dirty="0" err="1" smtClean="0"/>
              <a:t>var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Control (if, for, while, try/catch, return)</a:t>
            </a:r>
          </a:p>
          <a:p>
            <a:r>
              <a:rPr lang="en-US" dirty="0" smtClean="0"/>
              <a:t>Methods (function)</a:t>
            </a:r>
            <a:endParaRPr lang="th-TH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Events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You can add declare events on HTML elements</a:t>
            </a:r>
          </a:p>
          <a:p>
            <a:pPr lvl="1"/>
            <a:r>
              <a:rPr lang="en-US" dirty="0" err="1" smtClean="0"/>
              <a:t>onload</a:t>
            </a:r>
            <a:endParaRPr lang="en-US" dirty="0" smtClean="0"/>
          </a:p>
          <a:p>
            <a:pPr lvl="1"/>
            <a:r>
              <a:rPr lang="en-US" dirty="0" err="1" smtClean="0"/>
              <a:t>onclick</a:t>
            </a:r>
            <a:endParaRPr lang="en-US" dirty="0" smtClean="0"/>
          </a:p>
          <a:p>
            <a:pPr lvl="1"/>
            <a:r>
              <a:rPr lang="en-US" dirty="0" err="1" smtClean="0"/>
              <a:t>onfocus</a:t>
            </a:r>
            <a:r>
              <a:rPr lang="en-US" dirty="0" smtClean="0"/>
              <a:t>/</a:t>
            </a:r>
            <a:r>
              <a:rPr lang="en-US" dirty="0" err="1" smtClean="0"/>
              <a:t>onblur</a:t>
            </a:r>
            <a:endParaRPr lang="en-US" dirty="0" smtClean="0"/>
          </a:p>
          <a:p>
            <a:pPr lvl="1"/>
            <a:r>
              <a:rPr lang="en-US" dirty="0" err="1" smtClean="0"/>
              <a:t>onmouseover</a:t>
            </a:r>
            <a:endParaRPr lang="en-US" dirty="0" smtClean="0"/>
          </a:p>
          <a:p>
            <a:r>
              <a:rPr lang="en-US" dirty="0" smtClean="0"/>
              <a:t>Provide a JavaScript method which will be invoked when the event occurs</a:t>
            </a:r>
          </a:p>
          <a:p>
            <a:r>
              <a:rPr lang="en-US" dirty="0" smtClean="0"/>
              <a:t>Example: </a:t>
            </a:r>
            <a:r>
              <a:rPr lang="en-US" dirty="0" err="1" smtClean="0"/>
              <a:t>onload</a:t>
            </a:r>
            <a:r>
              <a:rPr lang="en-US" dirty="0" smtClean="0"/>
              <a:t> in </a:t>
            </a:r>
            <a:r>
              <a:rPr lang="en-US" dirty="0" err="1" smtClean="0"/>
              <a:t>AddrBook</a:t>
            </a:r>
            <a:endParaRPr lang="en-US" dirty="0" smtClean="0"/>
          </a:p>
          <a:p>
            <a:pPr lvl="1">
              <a:buNone/>
            </a:pPr>
            <a:r>
              <a:rPr lang="en-US" sz="2600" dirty="0" smtClean="0"/>
              <a:t>&lt;body </a:t>
            </a:r>
            <a:r>
              <a:rPr lang="en-US" sz="2600" dirty="0" err="1" smtClean="0"/>
              <a:t>onLoad</a:t>
            </a:r>
            <a:r>
              <a:rPr lang="en-US" sz="2600" dirty="0" smtClean="0"/>
              <a:t>=“</a:t>
            </a:r>
            <a:r>
              <a:rPr lang="en-US" sz="2600" dirty="0" err="1" smtClean="0"/>
              <a:t>document.login.userName.focus</a:t>
            </a:r>
            <a:r>
              <a:rPr lang="en-US" sz="2600" dirty="0" smtClean="0"/>
              <a:t>()”&gt;</a:t>
            </a:r>
          </a:p>
          <a:p>
            <a:pPr lvl="1">
              <a:buNone/>
            </a:pPr>
            <a:r>
              <a:rPr lang="en-US" sz="2600" dirty="0" smtClean="0"/>
              <a:t>&lt;body </a:t>
            </a:r>
            <a:r>
              <a:rPr lang="en-US" sz="2600" dirty="0" err="1" smtClean="0"/>
              <a:t>onLoad</a:t>
            </a:r>
            <a:r>
              <a:rPr lang="en-US" sz="2600" dirty="0" smtClean="0"/>
              <a:t>=“</a:t>
            </a:r>
            <a:r>
              <a:rPr lang="en-US" sz="2600" dirty="0" err="1" smtClean="0"/>
              <a:t>document.getElementById</a:t>
            </a:r>
            <a:r>
              <a:rPr lang="en-US" sz="2600" dirty="0" smtClean="0"/>
              <a:t>(‘last’).focus()”&gt;</a:t>
            </a:r>
            <a:endParaRPr lang="th-TH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Document Object Model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A tree of nodes that represent the HTML document</a:t>
            </a:r>
          </a:p>
          <a:p>
            <a:r>
              <a:rPr lang="en-US" dirty="0" smtClean="0"/>
              <a:t>Example:</a:t>
            </a:r>
          </a:p>
          <a:p>
            <a:pPr lvl="1">
              <a:buNone/>
            </a:pPr>
            <a:r>
              <a:rPr lang="en-US" dirty="0" smtClean="0"/>
              <a:t>&lt;html&gt;</a:t>
            </a:r>
          </a:p>
          <a:p>
            <a:pPr lvl="1">
              <a:buNone/>
            </a:pPr>
            <a:r>
              <a:rPr lang="en-US" dirty="0" smtClean="0"/>
              <a:t>	&lt;head&gt;</a:t>
            </a:r>
          </a:p>
          <a:p>
            <a:pPr lvl="1">
              <a:buNone/>
            </a:pPr>
            <a:r>
              <a:rPr lang="en-US" dirty="0" smtClean="0"/>
              <a:t>		&lt;title&gt;My Page&lt;/title&gt;</a:t>
            </a:r>
          </a:p>
          <a:p>
            <a:pPr lvl="1">
              <a:buNone/>
            </a:pPr>
            <a:r>
              <a:rPr lang="en-US" dirty="0" smtClean="0"/>
              <a:t>	&lt;/head&gt;</a:t>
            </a:r>
          </a:p>
          <a:p>
            <a:pPr lvl="1">
              <a:buNone/>
            </a:pPr>
            <a:r>
              <a:rPr lang="en-US" dirty="0" smtClean="0"/>
              <a:t>	&lt;body&gt;</a:t>
            </a:r>
          </a:p>
          <a:p>
            <a:pPr lvl="1">
              <a:buNone/>
            </a:pPr>
            <a:r>
              <a:rPr lang="en-US" dirty="0" smtClean="0"/>
              <a:t>		&lt;h2&gt;My Header&lt;/h2&gt;</a:t>
            </a:r>
          </a:p>
          <a:p>
            <a:pPr lvl="1">
              <a:buNone/>
            </a:pPr>
            <a:r>
              <a:rPr lang="en-US" dirty="0" smtClean="0"/>
              <a:t>		&lt;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lvl="1">
              <a:buNone/>
            </a:pPr>
            <a:r>
              <a:rPr lang="en-US" dirty="0" smtClean="0"/>
              <a:t>		&lt;</a:t>
            </a:r>
            <a:r>
              <a:rPr lang="en-US" dirty="0" err="1" smtClean="0"/>
              <a:t>li</a:t>
            </a:r>
            <a:r>
              <a:rPr lang="en-US" dirty="0" smtClean="0"/>
              <a:t>&gt;One&lt;/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lvl="1">
              <a:buNone/>
            </a:pPr>
            <a:r>
              <a:rPr lang="en-US" dirty="0" smtClean="0"/>
              <a:t>		&lt;</a:t>
            </a:r>
            <a:r>
              <a:rPr lang="en-US" dirty="0" err="1" smtClean="0"/>
              <a:t>li</a:t>
            </a:r>
            <a:r>
              <a:rPr lang="en-US" dirty="0" smtClean="0"/>
              <a:t>&gt;Two&lt;/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lvl="1">
              <a:buNone/>
            </a:pPr>
            <a:r>
              <a:rPr lang="en-US" dirty="0" smtClean="0"/>
              <a:t>		&lt;</a:t>
            </a:r>
            <a:r>
              <a:rPr lang="en-US" dirty="0" err="1" smtClean="0"/>
              <a:t>li</a:t>
            </a:r>
            <a:r>
              <a:rPr lang="en-US" dirty="0" smtClean="0"/>
              <a:t>&gt;Three&lt;/</a:t>
            </a:r>
            <a:r>
              <a:rPr lang="en-US" dirty="0" err="1" smtClean="0"/>
              <a:t>li</a:t>
            </a:r>
            <a:r>
              <a:rPr lang="en-US" dirty="0" smtClean="0"/>
              <a:t>&gt;</a:t>
            </a:r>
          </a:p>
          <a:p>
            <a:pPr lvl="1">
              <a:buNone/>
            </a:pPr>
            <a:r>
              <a:rPr lang="en-US" dirty="0" smtClean="0"/>
              <a:t>		&lt;/</a:t>
            </a:r>
            <a:r>
              <a:rPr lang="en-US" dirty="0" err="1" smtClean="0"/>
              <a:t>ul</a:t>
            </a:r>
            <a:r>
              <a:rPr lang="en-US" dirty="0" smtClean="0"/>
              <a:t>&gt;</a:t>
            </a:r>
          </a:p>
          <a:p>
            <a:pPr lvl="1">
              <a:buNone/>
            </a:pPr>
            <a:r>
              <a:rPr lang="en-US" dirty="0" smtClean="0"/>
              <a:t>	&lt;/body&gt;</a:t>
            </a:r>
          </a:p>
          <a:p>
            <a:pPr lvl="1">
              <a:buNone/>
            </a:pPr>
            <a:r>
              <a:rPr lang="en-US" dirty="0" smtClean="0"/>
              <a:t>&lt;/html&gt;</a:t>
            </a:r>
            <a:endParaRPr lang="th-TH" dirty="0"/>
          </a:p>
        </p:txBody>
      </p:sp>
      <p:grpSp>
        <p:nvGrpSpPr>
          <p:cNvPr id="6" name="Group 5"/>
          <p:cNvGrpSpPr/>
          <p:nvPr/>
        </p:nvGrpSpPr>
        <p:grpSpPr>
          <a:xfrm>
            <a:off x="5004048" y="2060848"/>
            <a:ext cx="2160240" cy="720080"/>
            <a:chOff x="5004048" y="2060848"/>
            <a:chExt cx="2160240" cy="720080"/>
          </a:xfrm>
        </p:grpSpPr>
        <p:sp>
          <p:nvSpPr>
            <p:cNvPr id="4" name="Frame 3"/>
            <p:cNvSpPr/>
            <p:nvPr/>
          </p:nvSpPr>
          <p:spPr>
            <a:xfrm>
              <a:off x="5004048" y="2060848"/>
              <a:ext cx="2160240" cy="720080"/>
            </a:xfrm>
            <a:prstGeom prst="fram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>
                <a:solidFill>
                  <a:schemeClr val="tx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5220072" y="2185700"/>
              <a:ext cx="170739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Document</a:t>
              </a:r>
              <a:endParaRPr lang="th-TH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5292080" y="2996952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html</a:t>
            </a:r>
            <a:endParaRPr lang="th-TH" dirty="0"/>
          </a:p>
        </p:txBody>
      </p:sp>
      <p:sp>
        <p:nvSpPr>
          <p:cNvPr id="8" name="Rectangle 7"/>
          <p:cNvSpPr/>
          <p:nvPr/>
        </p:nvSpPr>
        <p:spPr>
          <a:xfrm>
            <a:off x="3851920" y="3789040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</a:t>
            </a:r>
            <a:endParaRPr lang="th-TH" dirty="0"/>
          </a:p>
        </p:txBody>
      </p:sp>
      <p:sp>
        <p:nvSpPr>
          <p:cNvPr id="9" name="Rectangle 8"/>
          <p:cNvSpPr/>
          <p:nvPr/>
        </p:nvSpPr>
        <p:spPr>
          <a:xfrm>
            <a:off x="6228184" y="3789040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body</a:t>
            </a:r>
            <a:endParaRPr lang="th-TH" dirty="0"/>
          </a:p>
        </p:txBody>
      </p:sp>
      <p:sp>
        <p:nvSpPr>
          <p:cNvPr id="10" name="Rectangle 9"/>
          <p:cNvSpPr/>
          <p:nvPr/>
        </p:nvSpPr>
        <p:spPr>
          <a:xfrm>
            <a:off x="7236296" y="4509120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ul</a:t>
            </a:r>
            <a:endParaRPr lang="th-TH" dirty="0"/>
          </a:p>
        </p:txBody>
      </p:sp>
      <p:sp>
        <p:nvSpPr>
          <p:cNvPr id="11" name="Rectangle 10"/>
          <p:cNvSpPr/>
          <p:nvPr/>
        </p:nvSpPr>
        <p:spPr>
          <a:xfrm>
            <a:off x="5436096" y="4509120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h2</a:t>
            </a:r>
            <a:endParaRPr lang="th-TH" dirty="0"/>
          </a:p>
        </p:txBody>
      </p:sp>
      <p:sp>
        <p:nvSpPr>
          <p:cNvPr id="12" name="Rectangle 11"/>
          <p:cNvSpPr/>
          <p:nvPr/>
        </p:nvSpPr>
        <p:spPr>
          <a:xfrm>
            <a:off x="3419872" y="4509120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title</a:t>
            </a:r>
            <a:endParaRPr lang="th-TH" dirty="0"/>
          </a:p>
        </p:txBody>
      </p:sp>
      <p:sp>
        <p:nvSpPr>
          <p:cNvPr id="13" name="Rectangle 12"/>
          <p:cNvSpPr/>
          <p:nvPr/>
        </p:nvSpPr>
        <p:spPr>
          <a:xfrm>
            <a:off x="6804248" y="5229200"/>
            <a:ext cx="5760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li</a:t>
            </a:r>
            <a:endParaRPr lang="th-TH" dirty="0"/>
          </a:p>
        </p:txBody>
      </p:sp>
      <p:sp>
        <p:nvSpPr>
          <p:cNvPr id="14" name="Rectangle 13"/>
          <p:cNvSpPr/>
          <p:nvPr/>
        </p:nvSpPr>
        <p:spPr>
          <a:xfrm>
            <a:off x="8244408" y="5229200"/>
            <a:ext cx="5760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li</a:t>
            </a:r>
            <a:endParaRPr lang="th-TH" dirty="0"/>
          </a:p>
        </p:txBody>
      </p:sp>
      <p:sp>
        <p:nvSpPr>
          <p:cNvPr id="15" name="Rectangle 14"/>
          <p:cNvSpPr/>
          <p:nvPr/>
        </p:nvSpPr>
        <p:spPr>
          <a:xfrm>
            <a:off x="7524328" y="5229200"/>
            <a:ext cx="5760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li</a:t>
            </a:r>
            <a:endParaRPr lang="th-TH" dirty="0"/>
          </a:p>
        </p:txBody>
      </p:sp>
      <p:cxnSp>
        <p:nvCxnSpPr>
          <p:cNvPr id="17" name="Straight Arrow Connector 16"/>
          <p:cNvCxnSpPr>
            <a:stCxn id="5" idx="2"/>
            <a:endCxn id="7" idx="0"/>
          </p:cNvCxnSpPr>
          <p:nvPr/>
        </p:nvCxnSpPr>
        <p:spPr>
          <a:xfrm flipH="1">
            <a:off x="6012160" y="2708920"/>
            <a:ext cx="61607" cy="28803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2"/>
            <a:endCxn id="8" idx="0"/>
          </p:cNvCxnSpPr>
          <p:nvPr/>
        </p:nvCxnSpPr>
        <p:spPr>
          <a:xfrm flipH="1">
            <a:off x="4572000" y="3573016"/>
            <a:ext cx="1440160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7" idx="2"/>
            <a:endCxn id="9" idx="0"/>
          </p:cNvCxnSpPr>
          <p:nvPr/>
        </p:nvCxnSpPr>
        <p:spPr>
          <a:xfrm>
            <a:off x="6012160" y="3573016"/>
            <a:ext cx="93610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8" idx="2"/>
            <a:endCxn id="12" idx="0"/>
          </p:cNvCxnSpPr>
          <p:nvPr/>
        </p:nvCxnSpPr>
        <p:spPr>
          <a:xfrm flipH="1">
            <a:off x="4139952" y="4365104"/>
            <a:ext cx="43204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9" idx="2"/>
            <a:endCxn id="11" idx="0"/>
          </p:cNvCxnSpPr>
          <p:nvPr/>
        </p:nvCxnSpPr>
        <p:spPr>
          <a:xfrm flipH="1">
            <a:off x="6156176" y="4365104"/>
            <a:ext cx="792088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9" idx="2"/>
            <a:endCxn id="10" idx="0"/>
          </p:cNvCxnSpPr>
          <p:nvPr/>
        </p:nvCxnSpPr>
        <p:spPr>
          <a:xfrm>
            <a:off x="6948264" y="4365104"/>
            <a:ext cx="1008112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0" idx="2"/>
            <a:endCxn id="13" idx="0"/>
          </p:cNvCxnSpPr>
          <p:nvPr/>
        </p:nvCxnSpPr>
        <p:spPr>
          <a:xfrm flipH="1">
            <a:off x="7092280" y="5085184"/>
            <a:ext cx="864096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0" idx="2"/>
            <a:endCxn id="15" idx="0"/>
          </p:cNvCxnSpPr>
          <p:nvPr/>
        </p:nvCxnSpPr>
        <p:spPr>
          <a:xfrm flipH="1">
            <a:off x="7812360" y="5085184"/>
            <a:ext cx="144016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0" idx="2"/>
            <a:endCxn id="14" idx="0"/>
          </p:cNvCxnSpPr>
          <p:nvPr/>
        </p:nvCxnSpPr>
        <p:spPr>
          <a:xfrm>
            <a:off x="7956376" y="5085184"/>
            <a:ext cx="576064" cy="1440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419872" y="5301208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/>
              <a:t>“My Page”</a:t>
            </a:r>
            <a:endParaRPr lang="th-TH" sz="1400" dirty="0"/>
          </a:p>
        </p:txBody>
      </p:sp>
      <p:sp>
        <p:nvSpPr>
          <p:cNvPr id="37" name="Oval 36"/>
          <p:cNvSpPr/>
          <p:nvPr/>
        </p:nvSpPr>
        <p:spPr>
          <a:xfrm>
            <a:off x="5148064" y="5301208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/>
              <a:t>“My Header”</a:t>
            </a:r>
            <a:endParaRPr lang="th-TH" sz="1100" dirty="0"/>
          </a:p>
        </p:txBody>
      </p:sp>
      <p:sp>
        <p:nvSpPr>
          <p:cNvPr id="38" name="Oval 37"/>
          <p:cNvSpPr/>
          <p:nvPr/>
        </p:nvSpPr>
        <p:spPr>
          <a:xfrm>
            <a:off x="7775848" y="6021288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“Three”</a:t>
            </a:r>
            <a:endParaRPr lang="th-TH" sz="1800" dirty="0"/>
          </a:p>
        </p:txBody>
      </p:sp>
      <p:sp>
        <p:nvSpPr>
          <p:cNvPr id="39" name="Oval 38"/>
          <p:cNvSpPr/>
          <p:nvPr/>
        </p:nvSpPr>
        <p:spPr>
          <a:xfrm>
            <a:off x="6372200" y="6021288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“Two”</a:t>
            </a:r>
            <a:endParaRPr lang="th-TH" sz="2400" dirty="0"/>
          </a:p>
        </p:txBody>
      </p:sp>
      <p:sp>
        <p:nvSpPr>
          <p:cNvPr id="40" name="Oval 39"/>
          <p:cNvSpPr/>
          <p:nvPr/>
        </p:nvSpPr>
        <p:spPr>
          <a:xfrm>
            <a:off x="4860032" y="6021288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“One”</a:t>
            </a:r>
            <a:endParaRPr lang="th-TH" sz="2400" dirty="0"/>
          </a:p>
        </p:txBody>
      </p:sp>
      <p:cxnSp>
        <p:nvCxnSpPr>
          <p:cNvPr id="42" name="Straight Arrow Connector 41"/>
          <p:cNvCxnSpPr>
            <a:stCxn id="12" idx="2"/>
            <a:endCxn id="36" idx="0"/>
          </p:cNvCxnSpPr>
          <p:nvPr/>
        </p:nvCxnSpPr>
        <p:spPr>
          <a:xfrm flipH="1">
            <a:off x="4103948" y="5085184"/>
            <a:ext cx="3600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1" idx="2"/>
            <a:endCxn id="37" idx="0"/>
          </p:cNvCxnSpPr>
          <p:nvPr/>
        </p:nvCxnSpPr>
        <p:spPr>
          <a:xfrm flipH="1">
            <a:off x="5832140" y="5085184"/>
            <a:ext cx="32403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3" idx="2"/>
            <a:endCxn id="40" idx="0"/>
          </p:cNvCxnSpPr>
          <p:nvPr/>
        </p:nvCxnSpPr>
        <p:spPr>
          <a:xfrm flipH="1">
            <a:off x="5544108" y="5805264"/>
            <a:ext cx="1548172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15" idx="2"/>
            <a:endCxn id="39" idx="0"/>
          </p:cNvCxnSpPr>
          <p:nvPr/>
        </p:nvCxnSpPr>
        <p:spPr>
          <a:xfrm flipH="1">
            <a:off x="7056276" y="5805264"/>
            <a:ext cx="756084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14" idx="2"/>
            <a:endCxn id="38" idx="0"/>
          </p:cNvCxnSpPr>
          <p:nvPr/>
        </p:nvCxnSpPr>
        <p:spPr>
          <a:xfrm flipH="1">
            <a:off x="8459924" y="5805264"/>
            <a:ext cx="72516" cy="21602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Looking around the DOM Tree</a:t>
            </a:r>
            <a:endParaRPr lang="th-TH" dirty="0"/>
          </a:p>
        </p:txBody>
      </p:sp>
      <p:sp>
        <p:nvSpPr>
          <p:cNvPr id="4" name="Rectangle 3"/>
          <p:cNvSpPr/>
          <p:nvPr/>
        </p:nvSpPr>
        <p:spPr>
          <a:xfrm>
            <a:off x="4139952" y="1700808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body</a:t>
            </a:r>
            <a:endParaRPr lang="th-TH" dirty="0"/>
          </a:p>
        </p:txBody>
      </p:sp>
      <p:sp>
        <p:nvSpPr>
          <p:cNvPr id="5" name="Rectangle 4"/>
          <p:cNvSpPr/>
          <p:nvPr/>
        </p:nvSpPr>
        <p:spPr>
          <a:xfrm>
            <a:off x="4067944" y="2996952"/>
            <a:ext cx="14401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ul</a:t>
            </a:r>
            <a:endParaRPr lang="th-TH" dirty="0"/>
          </a:p>
        </p:txBody>
      </p:sp>
      <p:sp>
        <p:nvSpPr>
          <p:cNvPr id="6" name="Rectangle 5"/>
          <p:cNvSpPr/>
          <p:nvPr/>
        </p:nvSpPr>
        <p:spPr>
          <a:xfrm>
            <a:off x="2699792" y="4509120"/>
            <a:ext cx="5760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li</a:t>
            </a:r>
            <a:endParaRPr lang="th-TH" dirty="0"/>
          </a:p>
        </p:txBody>
      </p:sp>
      <p:sp>
        <p:nvSpPr>
          <p:cNvPr id="7" name="Rectangle 6"/>
          <p:cNvSpPr/>
          <p:nvPr/>
        </p:nvSpPr>
        <p:spPr>
          <a:xfrm>
            <a:off x="6588224" y="4581128"/>
            <a:ext cx="5760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li</a:t>
            </a:r>
            <a:endParaRPr lang="th-TH" dirty="0"/>
          </a:p>
        </p:txBody>
      </p:sp>
      <p:sp>
        <p:nvSpPr>
          <p:cNvPr id="8" name="Rectangle 7"/>
          <p:cNvSpPr/>
          <p:nvPr/>
        </p:nvSpPr>
        <p:spPr>
          <a:xfrm>
            <a:off x="4427984" y="4509120"/>
            <a:ext cx="576064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li</a:t>
            </a:r>
            <a:endParaRPr lang="th-TH" dirty="0"/>
          </a:p>
        </p:txBody>
      </p:sp>
      <p:cxnSp>
        <p:nvCxnSpPr>
          <p:cNvPr id="9" name="Straight Arrow Connector 8"/>
          <p:cNvCxnSpPr>
            <a:stCxn id="5" idx="2"/>
            <a:endCxn id="6" idx="0"/>
          </p:cNvCxnSpPr>
          <p:nvPr/>
        </p:nvCxnSpPr>
        <p:spPr>
          <a:xfrm flipH="1">
            <a:off x="2987824" y="3573016"/>
            <a:ext cx="1800200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2"/>
            <a:endCxn id="8" idx="0"/>
          </p:cNvCxnSpPr>
          <p:nvPr/>
        </p:nvCxnSpPr>
        <p:spPr>
          <a:xfrm flipH="1">
            <a:off x="4716016" y="3573016"/>
            <a:ext cx="72008" cy="9361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5" idx="2"/>
            <a:endCxn id="7" idx="0"/>
          </p:cNvCxnSpPr>
          <p:nvPr/>
        </p:nvCxnSpPr>
        <p:spPr>
          <a:xfrm>
            <a:off x="4788024" y="3573016"/>
            <a:ext cx="2088232" cy="10081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516216" y="5805264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“Three”</a:t>
            </a:r>
            <a:endParaRPr lang="th-TH" sz="1800" dirty="0"/>
          </a:p>
        </p:txBody>
      </p:sp>
      <p:sp>
        <p:nvSpPr>
          <p:cNvPr id="13" name="Oval 12"/>
          <p:cNvSpPr/>
          <p:nvPr/>
        </p:nvSpPr>
        <p:spPr>
          <a:xfrm>
            <a:off x="3995936" y="5805264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“Two”</a:t>
            </a:r>
            <a:endParaRPr lang="th-TH" sz="2400" dirty="0"/>
          </a:p>
        </p:txBody>
      </p:sp>
      <p:sp>
        <p:nvSpPr>
          <p:cNvPr id="14" name="Oval 13"/>
          <p:cNvSpPr/>
          <p:nvPr/>
        </p:nvSpPr>
        <p:spPr>
          <a:xfrm>
            <a:off x="1763688" y="5805264"/>
            <a:ext cx="1368152" cy="50405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/>
              <a:t>“One”</a:t>
            </a:r>
            <a:endParaRPr lang="th-TH" sz="2400" dirty="0"/>
          </a:p>
        </p:txBody>
      </p:sp>
      <p:cxnSp>
        <p:nvCxnSpPr>
          <p:cNvPr id="19" name="Straight Arrow Connector 18"/>
          <p:cNvCxnSpPr>
            <a:stCxn id="4" idx="2"/>
            <a:endCxn id="5" idx="0"/>
          </p:cNvCxnSpPr>
          <p:nvPr/>
        </p:nvCxnSpPr>
        <p:spPr>
          <a:xfrm flipH="1">
            <a:off x="4788024" y="2276872"/>
            <a:ext cx="72008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>
            <a:stCxn id="6" idx="2"/>
            <a:endCxn id="14" idx="0"/>
          </p:cNvCxnSpPr>
          <p:nvPr/>
        </p:nvCxnSpPr>
        <p:spPr>
          <a:xfrm flipH="1">
            <a:off x="2447764" y="5085184"/>
            <a:ext cx="54006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8" idx="2"/>
            <a:endCxn id="13" idx="0"/>
          </p:cNvCxnSpPr>
          <p:nvPr/>
        </p:nvCxnSpPr>
        <p:spPr>
          <a:xfrm flipH="1">
            <a:off x="4680012" y="5085184"/>
            <a:ext cx="36004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7" idx="2"/>
            <a:endCxn id="12" idx="0"/>
          </p:cNvCxnSpPr>
          <p:nvPr/>
        </p:nvCxnSpPr>
        <p:spPr>
          <a:xfrm>
            <a:off x="6876256" y="5157192"/>
            <a:ext cx="324036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724128" y="1700808"/>
            <a:ext cx="30892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ulNode.parentNode</a:t>
            </a:r>
            <a:endParaRPr lang="th-TH" dirty="0"/>
          </a:p>
        </p:txBody>
      </p:sp>
      <p:sp>
        <p:nvSpPr>
          <p:cNvPr id="33" name="TextBox 32"/>
          <p:cNvSpPr txBox="1"/>
          <p:nvPr/>
        </p:nvSpPr>
        <p:spPr>
          <a:xfrm>
            <a:off x="683568" y="2996952"/>
            <a:ext cx="2466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var</a:t>
            </a:r>
            <a:r>
              <a:rPr lang="en-US" dirty="0" smtClean="0"/>
              <a:t> </a:t>
            </a:r>
            <a:r>
              <a:rPr lang="en-US" dirty="0" err="1" smtClean="0"/>
              <a:t>ulNode</a:t>
            </a:r>
            <a:r>
              <a:rPr lang="en-US" dirty="0" smtClean="0"/>
              <a:t> = …;</a:t>
            </a:r>
            <a:endParaRPr lang="th-TH" dirty="0"/>
          </a:p>
        </p:txBody>
      </p:sp>
      <p:sp>
        <p:nvSpPr>
          <p:cNvPr id="34" name="TextBox 33"/>
          <p:cNvSpPr txBox="1"/>
          <p:nvPr/>
        </p:nvSpPr>
        <p:spPr>
          <a:xfrm>
            <a:off x="251520" y="4077072"/>
            <a:ext cx="2628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ulNode.firstChild</a:t>
            </a:r>
            <a:endParaRPr lang="th-TH" dirty="0"/>
          </a:p>
        </p:txBody>
      </p:sp>
      <p:sp>
        <p:nvSpPr>
          <p:cNvPr id="35" name="TextBox 34"/>
          <p:cNvSpPr txBox="1"/>
          <p:nvPr/>
        </p:nvSpPr>
        <p:spPr>
          <a:xfrm>
            <a:off x="3491880" y="3573016"/>
            <a:ext cx="2959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ulNode.childNodes</a:t>
            </a:r>
            <a:endParaRPr lang="th-TH" dirty="0"/>
          </a:p>
        </p:txBody>
      </p:sp>
      <p:sp>
        <p:nvSpPr>
          <p:cNvPr id="36" name="TextBox 35"/>
          <p:cNvSpPr txBox="1"/>
          <p:nvPr/>
        </p:nvSpPr>
        <p:spPr>
          <a:xfrm>
            <a:off x="6515908" y="4005064"/>
            <a:ext cx="2578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ulNode.lastChild</a:t>
            </a:r>
            <a:endParaRPr lang="th-TH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 Elements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Nodes in the DOM tree</a:t>
            </a:r>
          </a:p>
          <a:p>
            <a:pPr lvl="1"/>
            <a:r>
              <a:rPr lang="en-US" dirty="0" smtClean="0"/>
              <a:t>Three types: element, attribute, text</a:t>
            </a:r>
            <a:endParaRPr lang="en-US" dirty="0" smtClean="0"/>
          </a:p>
          <a:p>
            <a:r>
              <a:rPr lang="en-US" dirty="0" smtClean="0"/>
              <a:t>Use fields to obtain parents, children, siblings</a:t>
            </a:r>
          </a:p>
          <a:p>
            <a:pPr lvl="1"/>
            <a:r>
              <a:rPr lang="en-US" dirty="0" err="1" smtClean="0"/>
              <a:t>parentNode</a:t>
            </a:r>
            <a:r>
              <a:rPr lang="en-US" dirty="0" smtClean="0"/>
              <a:t>, </a:t>
            </a:r>
            <a:r>
              <a:rPr lang="en-US" dirty="0" err="1" smtClean="0"/>
              <a:t>firstChild</a:t>
            </a:r>
            <a:r>
              <a:rPr lang="en-US" dirty="0" smtClean="0"/>
              <a:t>, </a:t>
            </a:r>
            <a:r>
              <a:rPr lang="en-US" dirty="0" err="1" smtClean="0"/>
              <a:t>lastChild</a:t>
            </a:r>
            <a:r>
              <a:rPr lang="en-US" dirty="0" smtClean="0"/>
              <a:t>, </a:t>
            </a:r>
            <a:r>
              <a:rPr lang="en-US" dirty="0" err="1" smtClean="0"/>
              <a:t>childNodes</a:t>
            </a:r>
            <a:r>
              <a:rPr lang="en-US" dirty="0" smtClean="0"/>
              <a:t>, </a:t>
            </a:r>
            <a:r>
              <a:rPr lang="en-US" dirty="0" err="1" smtClean="0"/>
              <a:t>nextSibling</a:t>
            </a:r>
            <a:r>
              <a:rPr lang="en-US" dirty="0" smtClean="0"/>
              <a:t>, </a:t>
            </a:r>
            <a:r>
              <a:rPr lang="en-US" dirty="0" err="1" smtClean="0"/>
              <a:t>previousSibling</a:t>
            </a:r>
            <a:endParaRPr lang="en-US" dirty="0" smtClean="0"/>
          </a:p>
          <a:p>
            <a:r>
              <a:rPr lang="en-US" dirty="0" smtClean="0"/>
              <a:t>You can apply methods to change the element</a:t>
            </a:r>
          </a:p>
          <a:p>
            <a:pPr lvl="1"/>
            <a:r>
              <a:rPr lang="en-US" dirty="0" smtClean="0"/>
              <a:t>Insert or delete children</a:t>
            </a:r>
          </a:p>
          <a:p>
            <a:pPr lvl="2"/>
            <a:r>
              <a:rPr lang="en-US" dirty="0" err="1" smtClean="0"/>
              <a:t>appendChild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Modify the elements attributes</a:t>
            </a:r>
          </a:p>
          <a:p>
            <a:pPr lvl="2"/>
            <a:r>
              <a:rPr lang="en-US" dirty="0" err="1" smtClean="0"/>
              <a:t>onclick</a:t>
            </a:r>
            <a:r>
              <a:rPr lang="en-US" dirty="0" smtClean="0"/>
              <a:t>, </a:t>
            </a:r>
            <a:r>
              <a:rPr lang="en-US" dirty="0" err="1" smtClean="0"/>
              <a:t>href</a:t>
            </a:r>
            <a:r>
              <a:rPr lang="en-US" dirty="0" smtClean="0"/>
              <a:t>, style, </a:t>
            </a:r>
            <a:r>
              <a:rPr lang="en-US" dirty="0" err="1" smtClean="0"/>
              <a:t>className</a:t>
            </a:r>
            <a:r>
              <a:rPr lang="en-US" dirty="0" smtClean="0"/>
              <a:t>, id, name</a:t>
            </a:r>
            <a:endParaRPr lang="en-US" dirty="0" smtClean="0"/>
          </a:p>
          <a:p>
            <a:pPr lvl="1"/>
            <a:r>
              <a:rPr lang="en-US" dirty="0" smtClean="0"/>
              <a:t>This changes the HTML document!</a:t>
            </a:r>
            <a:endParaRPr lang="th-TH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Document Object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is a predefined JavaScript variable (</a:t>
            </a:r>
            <a:r>
              <a:rPr lang="en-US" b="1" dirty="0" smtClean="0"/>
              <a:t>document</a:t>
            </a:r>
            <a:r>
              <a:rPr lang="en-US" dirty="0" smtClean="0"/>
              <a:t>)</a:t>
            </a:r>
          </a:p>
          <a:p>
            <a:r>
              <a:rPr lang="en-US" dirty="0" smtClean="0"/>
              <a:t>It’s the root of the DOM tree</a:t>
            </a:r>
          </a:p>
          <a:p>
            <a:r>
              <a:rPr lang="en-US" dirty="0" smtClean="0"/>
              <a:t>Has methods that allows you to search the tree and obtain node objects that represent elements in the HTML</a:t>
            </a:r>
          </a:p>
          <a:p>
            <a:pPr lvl="1"/>
            <a:r>
              <a:rPr lang="en-US" dirty="0" err="1" smtClean="0"/>
              <a:t>getElementById</a:t>
            </a:r>
            <a:r>
              <a:rPr lang="en-US" dirty="0" smtClean="0"/>
              <a:t>(), </a:t>
            </a:r>
            <a:r>
              <a:rPr lang="en-US" dirty="0" err="1" smtClean="0"/>
              <a:t>getElementsByName</a:t>
            </a:r>
            <a:r>
              <a:rPr lang="en-US" dirty="0" smtClean="0"/>
              <a:t>(). </a:t>
            </a:r>
            <a:r>
              <a:rPr lang="en-US" dirty="0" err="1" smtClean="0"/>
              <a:t>getElementsByTagName</a:t>
            </a:r>
            <a:r>
              <a:rPr lang="en-US" dirty="0" smtClean="0"/>
              <a:t>()</a:t>
            </a:r>
          </a:p>
          <a:p>
            <a:pPr lvl="1"/>
            <a:r>
              <a:rPr lang="en-US" dirty="0" smtClean="0"/>
              <a:t>Example: </a:t>
            </a:r>
            <a:r>
              <a:rPr lang="en-US" b="1" dirty="0" err="1" smtClean="0"/>
              <a:t>var</a:t>
            </a:r>
            <a:r>
              <a:rPr lang="en-US" b="1" dirty="0" smtClean="0"/>
              <a:t> </a:t>
            </a:r>
            <a:r>
              <a:rPr lang="en-US" b="1" dirty="0" err="1" smtClean="0"/>
              <a:t>ulNode</a:t>
            </a:r>
            <a:r>
              <a:rPr lang="en-US" b="1" dirty="0" smtClean="0"/>
              <a:t> = </a:t>
            </a:r>
            <a:r>
              <a:rPr lang="en-US" b="1" dirty="0" err="1" smtClean="0"/>
              <a:t>document.getElementsByTagName</a:t>
            </a:r>
            <a:r>
              <a:rPr lang="en-US" b="1" dirty="0" smtClean="0"/>
              <a:t>(“</a:t>
            </a:r>
            <a:r>
              <a:rPr lang="en-US" b="1" dirty="0" err="1" smtClean="0"/>
              <a:t>ul</a:t>
            </a:r>
            <a:r>
              <a:rPr lang="en-US" b="1" dirty="0" smtClean="0"/>
              <a:t>”)[0];</a:t>
            </a:r>
            <a:endParaRPr lang="en-US" dirty="0" smtClean="0"/>
          </a:p>
          <a:p>
            <a:r>
              <a:rPr lang="en-US" dirty="0" smtClean="0"/>
              <a:t>Has methods that allow you to create additional elements</a:t>
            </a:r>
          </a:p>
          <a:p>
            <a:pPr lvl="1"/>
            <a:r>
              <a:rPr lang="en-US" dirty="0" err="1" smtClean="0"/>
              <a:t>createElement</a:t>
            </a:r>
            <a:r>
              <a:rPr lang="en-US" dirty="0" smtClean="0"/>
              <a:t>(), </a:t>
            </a:r>
            <a:r>
              <a:rPr lang="en-US" dirty="0" err="1" smtClean="0"/>
              <a:t>createTextNode</a:t>
            </a:r>
            <a:r>
              <a:rPr lang="en-US" dirty="0" smtClean="0"/>
              <a:t>()</a:t>
            </a:r>
          </a:p>
          <a:p>
            <a:r>
              <a:rPr lang="en-US" dirty="0" smtClean="0"/>
              <a:t>You can inspect the document itself</a:t>
            </a:r>
          </a:p>
          <a:p>
            <a:pPr lvl="1"/>
            <a:r>
              <a:rPr lang="en-US" dirty="0" err="1" smtClean="0"/>
              <a:t>url</a:t>
            </a:r>
            <a:r>
              <a:rPr lang="en-US" dirty="0" smtClean="0"/>
              <a:t>, cookies</a:t>
            </a:r>
            <a:endParaRPr lang="en-US" dirty="0" smtClean="0"/>
          </a:p>
          <a:p>
            <a:r>
              <a:rPr lang="en-US" dirty="0" smtClean="0"/>
              <a:t>You can modify attributes of the document</a:t>
            </a:r>
          </a:p>
          <a:p>
            <a:pPr lvl="1"/>
            <a:r>
              <a:rPr lang="en-US" dirty="0" err="1" smtClean="0"/>
              <a:t>bgColor</a:t>
            </a:r>
            <a:r>
              <a:rPr lang="en-US" dirty="0" smtClean="0"/>
              <a:t>, cookies</a:t>
            </a:r>
            <a:endParaRPr lang="th-TH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Debugging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Firefox Plug-ins</a:t>
            </a:r>
          </a:p>
          <a:p>
            <a:pPr lvl="1"/>
            <a:r>
              <a:rPr lang="en-US" dirty="0" smtClean="0"/>
              <a:t>DOM Inspector</a:t>
            </a:r>
          </a:p>
          <a:p>
            <a:pPr lvl="1"/>
            <a:r>
              <a:rPr lang="en-US" dirty="0" err="1" smtClean="0"/>
              <a:t>FireBug</a:t>
            </a:r>
            <a:endParaRPr lang="th-TH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Browser Incompatibilities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lots of compatibility issues with the different browsers</a:t>
            </a:r>
          </a:p>
          <a:p>
            <a:r>
              <a:rPr lang="en-US" dirty="0" smtClean="0"/>
              <a:t>Today’s examples tested with Firefox, IE and Chrome (may work on Opera as well)</a:t>
            </a:r>
            <a:endParaRPr lang="th-TH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Alternatives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Adobe Flash</a:t>
            </a:r>
          </a:p>
          <a:p>
            <a:pPr lvl="1"/>
            <a:r>
              <a:rPr lang="en-US" dirty="0" smtClean="0"/>
              <a:t>Browser plug</a:t>
            </a:r>
          </a:p>
          <a:p>
            <a:r>
              <a:rPr lang="en-US" dirty="0" smtClean="0"/>
              <a:t>Google Web Toolkit(GWT)</a:t>
            </a:r>
          </a:p>
          <a:p>
            <a:pPr lvl="1"/>
            <a:r>
              <a:rPr lang="en-US" dirty="0" smtClean="0"/>
              <a:t>Write your client-side app using Java in Eclipse</a:t>
            </a:r>
          </a:p>
          <a:p>
            <a:pPr lvl="1"/>
            <a:r>
              <a:rPr lang="en-US" dirty="0" smtClean="0"/>
              <a:t>GWT will compile it into JavaScript &amp; HTML</a:t>
            </a:r>
          </a:p>
          <a:p>
            <a:r>
              <a:rPr lang="en-US" dirty="0" smtClean="0"/>
              <a:t>Google Dart Programming Language</a:t>
            </a:r>
          </a:p>
          <a:p>
            <a:pPr lvl="1"/>
            <a:r>
              <a:rPr lang="en-US" dirty="0" smtClean="0"/>
              <a:t>Compiles to JavaScript</a:t>
            </a:r>
          </a:p>
          <a:p>
            <a:pPr lvl="1"/>
            <a:r>
              <a:rPr lang="en-US" dirty="0" smtClean="0"/>
              <a:t>Runs native in Chrome</a:t>
            </a:r>
            <a:endParaRPr lang="th-TH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Resources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Eclipse Plug-in has some support</a:t>
            </a:r>
          </a:p>
          <a:p>
            <a:r>
              <a:rPr lang="en-US" dirty="0" smtClean="0"/>
              <a:t>Dreamweaver has some support</a:t>
            </a:r>
          </a:p>
          <a:p>
            <a:r>
              <a:rPr lang="en-US" dirty="0" smtClean="0"/>
              <a:t>Google for JavaScript</a:t>
            </a:r>
          </a:p>
          <a:p>
            <a:r>
              <a:rPr lang="en-US" dirty="0" smtClean="0"/>
              <a:t>Tools</a:t>
            </a:r>
          </a:p>
          <a:p>
            <a:pPr lvl="1"/>
            <a:r>
              <a:rPr lang="en-US" dirty="0" smtClean="0"/>
              <a:t>Google Web Toolkit(GWT)</a:t>
            </a:r>
          </a:p>
          <a:p>
            <a:pPr lvl="2"/>
            <a:r>
              <a:rPr lang="en-US" dirty="0" smtClean="0"/>
              <a:t>Write your client –side app using Java in Eclipse</a:t>
            </a:r>
          </a:p>
          <a:p>
            <a:pPr lvl="2"/>
            <a:r>
              <a:rPr lang="en-US" dirty="0" smtClean="0"/>
              <a:t>GWT will compile it into JavaScript &amp; HTML</a:t>
            </a:r>
          </a:p>
          <a:p>
            <a:pPr lvl="2"/>
            <a:r>
              <a:rPr lang="en-US" dirty="0" smtClean="0"/>
              <a:t>Much compile-time checking</a:t>
            </a:r>
          </a:p>
          <a:p>
            <a:pPr lvl="2"/>
            <a:r>
              <a:rPr lang="en-US" dirty="0" smtClean="0"/>
              <a:t>Cross-browser compatibility</a:t>
            </a:r>
            <a:endParaRPr lang="th-TH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JavaScript Study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http://www.cbdr.cmu.edu/experiments</a:t>
            </a:r>
            <a:endParaRPr lang="en-US" dirty="0" smtClean="0"/>
          </a:p>
          <a:p>
            <a:endParaRPr lang="th-TH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Bibliography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http://cc-web.isri.cmu.edu/Panopto/Pages/Viewer/Default.aspx?id=9b8fdcaf-2179-4720-a9d5-41d5a97d54d1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4469</TotalTime>
  <Words>934</Words>
  <Application>Microsoft Office PowerPoint</Application>
  <PresentationFormat>On-screen Show (4:3)</PresentationFormat>
  <Paragraphs>198</Paragraphs>
  <Slides>25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Java &amp; J2EE Lecture 21: JavaScript &amp; DOM</vt:lpstr>
      <vt:lpstr>What’s the difference between</vt:lpstr>
      <vt:lpstr>Mark Up Languages</vt:lpstr>
      <vt:lpstr>XML</vt:lpstr>
      <vt:lpstr>HTML + XML = XHTML</vt:lpstr>
      <vt:lpstr>Goal of CSS</vt:lpstr>
      <vt:lpstr>Cascading Style Sheets (CSS)</vt:lpstr>
      <vt:lpstr>CSS</vt:lpstr>
      <vt:lpstr>Where to Declare CSS Styles</vt:lpstr>
      <vt:lpstr>&lt;div&gt; and &lt;span&gt; tags</vt:lpstr>
      <vt:lpstr>CSS Resources</vt:lpstr>
      <vt:lpstr>JavaScript</vt:lpstr>
      <vt:lpstr>Where the JavaScript Goes</vt:lpstr>
      <vt:lpstr>JavaScript Language</vt:lpstr>
      <vt:lpstr>JavaScript Events</vt:lpstr>
      <vt:lpstr>Document Object Model</vt:lpstr>
      <vt:lpstr>Looking around the DOM Tree</vt:lpstr>
      <vt:lpstr>DOM Elements</vt:lpstr>
      <vt:lpstr>The Document Object</vt:lpstr>
      <vt:lpstr>Debugging</vt:lpstr>
      <vt:lpstr>Browser Incompatibilities</vt:lpstr>
      <vt:lpstr>Alternatives</vt:lpstr>
      <vt:lpstr>Web Resources</vt:lpstr>
      <vt:lpstr>JavaScript Study</vt:lpstr>
      <vt:lpstr>Bibliography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Peratham</dc:creator>
  <cp:lastModifiedBy>Peratham</cp:lastModifiedBy>
  <cp:revision>837</cp:revision>
  <dcterms:created xsi:type="dcterms:W3CDTF">2011-12-20T05:43:53Z</dcterms:created>
  <dcterms:modified xsi:type="dcterms:W3CDTF">2012-05-30T19:15:47Z</dcterms:modified>
</cp:coreProperties>
</file>