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63" r:id="rId16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00" autoAdjust="0"/>
  </p:normalViewPr>
  <p:slideViewPr>
    <p:cSldViewPr>
      <p:cViewPr varScale="1">
        <p:scale>
          <a:sx n="41" d="100"/>
          <a:sy n="41" d="100"/>
        </p:scale>
        <p:origin x="-24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4B7D-38D6-43AA-8877-F50B9572719E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4A6BB-0F7D-4385-B260-9E7393E0BCB5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Excel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</a:t>
            </a:fld>
            <a:endParaRPr 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login?...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2</a:t>
            </a:fld>
            <a:endParaRPr 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Thick view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3</a:t>
            </a:fld>
            <a:endParaRPr lang="th-T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controller </a:t>
            </a:r>
            <a:r>
              <a:rPr lang="en-US" dirty="0" err="1" smtClean="0"/>
              <a:t>servlet</a:t>
            </a:r>
            <a:r>
              <a:rPr lang="en-US" dirty="0" smtClean="0"/>
              <a:t> =&gt; security, verify which action</a:t>
            </a:r>
            <a:r>
              <a:rPr lang="en-US" baseline="0" dirty="0" smtClean="0"/>
              <a:t> to do</a:t>
            </a:r>
            <a:r>
              <a:rPr lang="en-US" dirty="0" smtClean="0"/>
              <a:t> 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6</a:t>
            </a:fld>
            <a:endParaRPr 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C0127-A3CF-46A3-B32F-53FCF31F7EBC}" type="datetimeFigureOut">
              <a:rPr lang="th-TH" smtClean="0"/>
              <a:pPr/>
              <a:t>23/05/55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java.sun.com/blueprints/guidelines/designing_enterprise_applications_2e/web-tier/web-tier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cc-web.isri.cmu.edu/Panopto/Pages/Viewer/Default.aspx?id=9b8fdcaf-2179-4720-a9d5-41d5a97d54d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2130425"/>
            <a:ext cx="8424936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Java &amp; J2EE</a:t>
            </a:r>
            <a:br>
              <a:rPr lang="en-US" dirty="0" smtClean="0"/>
            </a:br>
            <a:r>
              <a:rPr lang="en-US" smtClean="0"/>
              <a:t>Lecture 20: MVC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3568" y="3886200"/>
            <a:ext cx="6400800" cy="1752600"/>
          </a:xfrm>
        </p:spPr>
        <p:txBody>
          <a:bodyPr/>
          <a:lstStyle/>
          <a:p>
            <a:r>
              <a:rPr lang="en-US" dirty="0" err="1" smtClean="0"/>
              <a:t>Peratham</a:t>
            </a:r>
            <a:r>
              <a:rPr lang="en-US" dirty="0" smtClean="0"/>
              <a:t> </a:t>
            </a:r>
            <a:r>
              <a:rPr lang="en-US" dirty="0" err="1" smtClean="0"/>
              <a:t>Wiriyathammabhu</a:t>
            </a:r>
            <a:r>
              <a:rPr lang="en-US" dirty="0" err="1"/>
              <a:t>m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Architecture? Easy?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it hard to handle all the different requests from one </a:t>
            </a:r>
            <a:r>
              <a:rPr lang="en-US" dirty="0" err="1" smtClean="0"/>
              <a:t>servlet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Depends on how you structure it</a:t>
            </a:r>
          </a:p>
          <a:p>
            <a:pPr lvl="1"/>
            <a:r>
              <a:rPr lang="en-US" dirty="0" smtClean="0"/>
              <a:t>Do you have one big file?</a:t>
            </a:r>
          </a:p>
          <a:p>
            <a:pPr lvl="2"/>
            <a:r>
              <a:rPr lang="en-US" dirty="0" smtClean="0"/>
              <a:t>Certainly you have DAOs and JavaBeans</a:t>
            </a:r>
          </a:p>
          <a:p>
            <a:r>
              <a:rPr lang="en-US" dirty="0" smtClean="0"/>
              <a:t>Goal for today is to focus on a Design Pattern to structure our web apps</a:t>
            </a:r>
          </a:p>
          <a:p>
            <a:pPr lvl="1"/>
            <a:r>
              <a:rPr lang="en-US" dirty="0" smtClean="0"/>
              <a:t>Model-View-Controller</a:t>
            </a:r>
            <a:endParaRPr lang="th-TH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1: Calling a JSP directly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Compact…everything is one place</a:t>
            </a:r>
          </a:p>
          <a:p>
            <a:r>
              <a:rPr lang="en-US" dirty="0" smtClean="0"/>
              <a:t>Problems</a:t>
            </a:r>
          </a:p>
          <a:p>
            <a:pPr lvl="1"/>
            <a:r>
              <a:rPr lang="en-US" dirty="0" smtClean="0"/>
              <a:t>Errors are hard to handle</a:t>
            </a:r>
          </a:p>
          <a:p>
            <a:pPr lvl="1"/>
            <a:r>
              <a:rPr lang="en-US" dirty="0" smtClean="0"/>
              <a:t>Awkward as your application gets large</a:t>
            </a:r>
            <a:endParaRPr lang="th-T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2: </a:t>
            </a:r>
            <a:r>
              <a:rPr lang="en-US" dirty="0" err="1" smtClean="0"/>
              <a:t>Servlet</a:t>
            </a:r>
            <a:r>
              <a:rPr lang="en-US" dirty="0" smtClean="0"/>
              <a:t> =&gt; JSP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Invoke a </a:t>
            </a:r>
            <a:r>
              <a:rPr lang="en-US" dirty="0" err="1" smtClean="0"/>
              <a:t>servlet</a:t>
            </a:r>
            <a:r>
              <a:rPr lang="en-US" dirty="0" smtClean="0"/>
              <a:t> and then have the </a:t>
            </a:r>
            <a:r>
              <a:rPr lang="en-US" dirty="0" err="1" smtClean="0"/>
              <a:t>servlet</a:t>
            </a:r>
            <a:r>
              <a:rPr lang="en-US" dirty="0" smtClean="0"/>
              <a:t> perform the logic and then dispatch (forward) to a JSP for formatting</a:t>
            </a:r>
          </a:p>
          <a:p>
            <a:pPr lvl="1"/>
            <a:r>
              <a:rPr lang="en-US" dirty="0" smtClean="0"/>
              <a:t>Set request attributes to pass dynamic data</a:t>
            </a:r>
          </a:p>
          <a:p>
            <a:pPr lvl="1"/>
            <a:r>
              <a:rPr lang="en-US" dirty="0" smtClean="0"/>
              <a:t>Can also set session attributes</a:t>
            </a:r>
          </a:p>
          <a:p>
            <a:r>
              <a:rPr lang="en-US" dirty="0" smtClean="0"/>
              <a:t>Benefits</a:t>
            </a:r>
          </a:p>
          <a:p>
            <a:pPr lvl="1"/>
            <a:r>
              <a:rPr lang="en-US" dirty="0" err="1" smtClean="0"/>
              <a:t>Servlet</a:t>
            </a:r>
            <a:r>
              <a:rPr lang="en-US" dirty="0" smtClean="0"/>
              <a:t> programming environment is a better place to handle security, validation of inputs, invocation of business logic</a:t>
            </a:r>
          </a:p>
          <a:p>
            <a:pPr lvl="1"/>
            <a:r>
              <a:rPr lang="en-US" dirty="0" smtClean="0"/>
              <a:t>JSP environment is better place to handle formatting</a:t>
            </a:r>
            <a:endParaRPr lang="th-TH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Model-View-Controller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Model 2 can be further refined</a:t>
            </a:r>
          </a:p>
          <a:p>
            <a:r>
              <a:rPr lang="en-US" dirty="0" smtClean="0"/>
              <a:t>This enhancement to Model 2 is called MVC</a:t>
            </a:r>
          </a:p>
          <a:p>
            <a:pPr lvl="1"/>
            <a:r>
              <a:rPr lang="en-US" dirty="0" smtClean="0"/>
              <a:t>Originated in Smalltalk</a:t>
            </a:r>
          </a:p>
          <a:p>
            <a:pPr lvl="1"/>
            <a:r>
              <a:rPr lang="en-US" dirty="0" smtClean="0"/>
              <a:t>Dispatch your requests to a *controller* </a:t>
            </a:r>
            <a:r>
              <a:rPr lang="en-US" dirty="0" err="1" smtClean="0"/>
              <a:t>servlet</a:t>
            </a:r>
            <a:endParaRPr lang="en-US" dirty="0" smtClean="0"/>
          </a:p>
          <a:p>
            <a:pPr lvl="2"/>
            <a:r>
              <a:rPr lang="en-US" dirty="0" smtClean="0"/>
              <a:t>In one place, it can handle initialization, security checks, dispatch to business logic (aka the *actions*)</a:t>
            </a:r>
          </a:p>
          <a:p>
            <a:pPr lvl="1"/>
            <a:r>
              <a:rPr lang="en-US" dirty="0" smtClean="0"/>
              <a:t>Controller dispatches to JSP(s) to format *view*</a:t>
            </a:r>
          </a:p>
          <a:p>
            <a:r>
              <a:rPr lang="en-US" dirty="0" smtClean="0"/>
              <a:t>MVC is a specialized form of Model 2</a:t>
            </a:r>
          </a:p>
          <a:p>
            <a:r>
              <a:rPr lang="en-US" dirty="0" smtClean="0"/>
              <a:t>Designing Enterprise Applications white paper</a:t>
            </a:r>
          </a:p>
          <a:p>
            <a:endParaRPr lang="th-TH" dirty="0"/>
          </a:p>
        </p:txBody>
      </p:sp>
      <p:sp>
        <p:nvSpPr>
          <p:cNvPr id="4" name="TextBox 3"/>
          <p:cNvSpPr txBox="1"/>
          <p:nvPr/>
        </p:nvSpPr>
        <p:spPr>
          <a:xfrm>
            <a:off x="207734" y="6114782"/>
            <a:ext cx="89007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hlinkClick r:id="rId2"/>
              </a:rPr>
              <a:t>http://java.sun.com/blueprints/guidelines/designing_enterprise_applications_2e/web-tier/web-tier.html</a:t>
            </a:r>
            <a:endParaRPr lang="th-TH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Model-View-Controller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611560" y="1484784"/>
            <a:ext cx="1728192" cy="201622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Web Browser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3275856" y="1412776"/>
            <a:ext cx="4968552" cy="33123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3347864" y="5301208"/>
            <a:ext cx="1944216" cy="11247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Database</a:t>
            </a:r>
            <a:endParaRPr lang="th-TH" dirty="0"/>
          </a:p>
        </p:txBody>
      </p:sp>
      <p:sp>
        <p:nvSpPr>
          <p:cNvPr id="7" name="Oval 6"/>
          <p:cNvSpPr/>
          <p:nvPr/>
        </p:nvSpPr>
        <p:spPr>
          <a:xfrm>
            <a:off x="3491880" y="1772816"/>
            <a:ext cx="2448272" cy="2160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Controller </a:t>
            </a:r>
          </a:p>
          <a:p>
            <a:pPr algn="ctr"/>
            <a:r>
              <a:rPr lang="en-US" dirty="0" err="1" smtClean="0"/>
              <a:t>Servlet</a:t>
            </a:r>
            <a:endParaRPr lang="en-US" dirty="0" smtClean="0"/>
          </a:p>
          <a:p>
            <a:pPr algn="ctr"/>
            <a:endParaRPr lang="th-TH" dirty="0"/>
          </a:p>
        </p:txBody>
      </p:sp>
      <p:sp>
        <p:nvSpPr>
          <p:cNvPr id="8" name="Oval 7"/>
          <p:cNvSpPr/>
          <p:nvPr/>
        </p:nvSpPr>
        <p:spPr>
          <a:xfrm>
            <a:off x="6660232" y="1556792"/>
            <a:ext cx="1224136" cy="1080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JSPs</a:t>
            </a:r>
            <a:endParaRPr lang="th-TH" dirty="0"/>
          </a:p>
        </p:txBody>
      </p:sp>
      <p:sp>
        <p:nvSpPr>
          <p:cNvPr id="9" name="Oval 8"/>
          <p:cNvSpPr/>
          <p:nvPr/>
        </p:nvSpPr>
        <p:spPr>
          <a:xfrm>
            <a:off x="6012160" y="3284984"/>
            <a:ext cx="1440160" cy="1296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DAOs</a:t>
            </a:r>
            <a:endParaRPr lang="th-TH" dirty="0"/>
          </a:p>
        </p:txBody>
      </p:sp>
      <p:sp>
        <p:nvSpPr>
          <p:cNvPr id="10" name="TextBox 9"/>
          <p:cNvSpPr txBox="1"/>
          <p:nvPr/>
        </p:nvSpPr>
        <p:spPr>
          <a:xfrm>
            <a:off x="4169403" y="306896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Actions</a:t>
            </a:r>
            <a:endParaRPr lang="th-TH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3563888" y="3068960"/>
            <a:ext cx="23042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860032" y="4509120"/>
            <a:ext cx="2016224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6" idx="0"/>
          </p:cNvCxnSpPr>
          <p:nvPr/>
        </p:nvCxnSpPr>
        <p:spPr>
          <a:xfrm flipH="1">
            <a:off x="4319972" y="4509120"/>
            <a:ext cx="2052228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58071" y="4561964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JDBC</a:t>
            </a:r>
            <a:endParaRPr lang="th-TH" dirty="0"/>
          </a:p>
        </p:txBody>
      </p:sp>
      <p:cxnSp>
        <p:nvCxnSpPr>
          <p:cNvPr id="19" name="Straight Arrow Connector 18"/>
          <p:cNvCxnSpPr>
            <a:endCxn id="8" idx="2"/>
          </p:cNvCxnSpPr>
          <p:nvPr/>
        </p:nvCxnSpPr>
        <p:spPr>
          <a:xfrm flipV="1">
            <a:off x="5940152" y="2096852"/>
            <a:ext cx="720080" cy="3960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https://encrypted-tbn0.google.com/images?q=tbn:ANd9GcQ0JQfK8z1IhtanxZAhxpwzX-6HP1jr4m3haU8Brh_iGPqfakelxw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168" y="1844824"/>
            <a:ext cx="456855" cy="302915"/>
          </a:xfrm>
          <a:prstGeom prst="rect">
            <a:avLst/>
          </a:prstGeom>
          <a:noFill/>
        </p:spPr>
      </p:pic>
      <p:pic>
        <p:nvPicPr>
          <p:cNvPr id="23" name="Picture 2" descr="https://encrypted-tbn0.google.com/images?q=tbn:ANd9GcQ0JQfK8z1IhtanxZAhxpwzX-6HP1jr4m3haU8Brh_iGPqfakelxw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4005064"/>
            <a:ext cx="456855" cy="302915"/>
          </a:xfrm>
          <a:prstGeom prst="rect">
            <a:avLst/>
          </a:prstGeom>
          <a:noFill/>
        </p:spPr>
      </p:pic>
      <p:cxnSp>
        <p:nvCxnSpPr>
          <p:cNvPr id="24" name="Straight Arrow Connector 23"/>
          <p:cNvCxnSpPr>
            <a:stCxn id="7" idx="5"/>
          </p:cNvCxnSpPr>
          <p:nvPr/>
        </p:nvCxnSpPr>
        <p:spPr>
          <a:xfrm>
            <a:off x="5581611" y="3616696"/>
            <a:ext cx="502557" cy="1003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9" idx="2"/>
          </p:cNvCxnSpPr>
          <p:nvPr/>
        </p:nvCxnSpPr>
        <p:spPr>
          <a:xfrm flipH="1" flipV="1">
            <a:off x="5436096" y="3789040"/>
            <a:ext cx="576064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 rot="19628743">
            <a:off x="1563319" y="3692133"/>
            <a:ext cx="2259732" cy="7726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Controller</a:t>
            </a:r>
            <a:endParaRPr lang="th-TH" dirty="0"/>
          </a:p>
        </p:txBody>
      </p:sp>
      <p:sp>
        <p:nvSpPr>
          <p:cNvPr id="31" name="Right Arrow 30"/>
          <p:cNvSpPr/>
          <p:nvPr/>
        </p:nvSpPr>
        <p:spPr>
          <a:xfrm rot="7879660" flipV="1">
            <a:off x="7320964" y="722336"/>
            <a:ext cx="1888800" cy="584574"/>
          </a:xfrm>
          <a:prstGeom prst="rightArrow">
            <a:avLst>
              <a:gd name="adj1" fmla="val 50000"/>
              <a:gd name="adj2" fmla="val 531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 smtClean="0"/>
              <a:t>View</a:t>
            </a:r>
            <a:endParaRPr lang="th-TH" dirty="0"/>
          </a:p>
        </p:txBody>
      </p:sp>
      <p:sp>
        <p:nvSpPr>
          <p:cNvPr id="32" name="Right Arrow 31"/>
          <p:cNvSpPr/>
          <p:nvPr/>
        </p:nvSpPr>
        <p:spPr>
          <a:xfrm rot="12694726" flipV="1">
            <a:off x="7122499" y="4552773"/>
            <a:ext cx="1980800" cy="5799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 smtClean="0"/>
              <a:t>Model</a:t>
            </a:r>
            <a:endParaRPr lang="th-TH" dirty="0"/>
          </a:p>
        </p:txBody>
      </p:sp>
      <p:cxnSp>
        <p:nvCxnSpPr>
          <p:cNvPr id="34" name="Straight Arrow Connector 33"/>
          <p:cNvCxnSpPr>
            <a:stCxn id="8" idx="1"/>
          </p:cNvCxnSpPr>
          <p:nvPr/>
        </p:nvCxnSpPr>
        <p:spPr>
          <a:xfrm flipH="1" flipV="1">
            <a:off x="2339752" y="1700808"/>
            <a:ext cx="4499751" cy="141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2339752" y="2636912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411760" y="126876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HTML</a:t>
            </a:r>
            <a:endParaRPr lang="th-TH" dirty="0"/>
          </a:p>
        </p:txBody>
      </p:sp>
      <p:sp>
        <p:nvSpPr>
          <p:cNvPr id="46" name="TextBox 45"/>
          <p:cNvSpPr txBox="1"/>
          <p:nvPr/>
        </p:nvSpPr>
        <p:spPr>
          <a:xfrm>
            <a:off x="2411760" y="2689756"/>
            <a:ext cx="9494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</a:t>
            </a:r>
            <a:endParaRPr lang="th-TH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Controller.java</a:t>
            </a:r>
          </a:p>
          <a:p>
            <a:pPr lvl="1"/>
            <a:r>
              <a:rPr lang="en-US" dirty="0" smtClean="0"/>
              <a:t>Handles security checking in one place</a:t>
            </a:r>
          </a:p>
          <a:p>
            <a:pPr lvl="1"/>
            <a:r>
              <a:rPr lang="en-US" dirty="0" smtClean="0"/>
              <a:t>Initializes application in one place</a:t>
            </a:r>
          </a:p>
          <a:p>
            <a:pPr lvl="1"/>
            <a:r>
              <a:rPr lang="en-US" dirty="0" smtClean="0"/>
              <a:t>Handles routing of requests in one place</a:t>
            </a:r>
          </a:p>
          <a:p>
            <a:r>
              <a:rPr lang="en-US" dirty="0" smtClean="0"/>
              <a:t>Compare this to the structure of applications with many </a:t>
            </a:r>
            <a:r>
              <a:rPr lang="en-US" dirty="0" err="1" smtClean="0"/>
              <a:t>servlets</a:t>
            </a:r>
            <a:endParaRPr lang="en-US" dirty="0" smtClean="0"/>
          </a:p>
          <a:p>
            <a:pPr lvl="1"/>
            <a:r>
              <a:rPr lang="en-US" dirty="0" smtClean="0"/>
              <a:t>web.xml, initialization, formatting of the answer</a:t>
            </a:r>
            <a:endParaRPr lang="th-TH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 : Abstract Action Class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Abstract Action class allows consistent invocation of business logic from Controller</a:t>
            </a:r>
          </a:p>
          <a:p>
            <a:pPr lvl="1"/>
            <a:r>
              <a:rPr lang="en-US" dirty="0" smtClean="0"/>
              <a:t>Action hash table can be loaded with code, from a </a:t>
            </a:r>
            <a:r>
              <a:rPr lang="en-US" dirty="0" err="1" smtClean="0"/>
              <a:t>config</a:t>
            </a:r>
            <a:r>
              <a:rPr lang="en-US" dirty="0" smtClean="0"/>
              <a:t> file, or by loading an Action upon request using </a:t>
            </a:r>
            <a:r>
              <a:rPr lang="en-US" dirty="0" err="1" smtClean="0"/>
              <a:t>Class.forName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You can use if-then-else chains if you like</a:t>
            </a:r>
            <a:endParaRPr lang="th-TH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Controller:Concrete</a:t>
            </a:r>
            <a:r>
              <a:rPr lang="en-US" dirty="0" smtClean="0"/>
              <a:t> Action Subclasses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Concrete Action Subclasses set request (and session) attributes and select a particular JSP to format the view depending on situation</a:t>
            </a:r>
          </a:p>
          <a:p>
            <a:pPr lvl="1"/>
            <a:r>
              <a:rPr lang="en-US" dirty="0" smtClean="0"/>
              <a:t>Error cases typically handled by a different JSP</a:t>
            </a:r>
          </a:p>
          <a:p>
            <a:pPr lvl="1"/>
            <a:r>
              <a:rPr lang="en-US" dirty="0" smtClean="0"/>
              <a:t>An additional level of abstraction can be added to allow the controller to maintain multiple sets of views for different output devices</a:t>
            </a:r>
          </a:p>
          <a:p>
            <a:pPr lvl="1"/>
            <a:r>
              <a:rPr lang="en-US" dirty="0" smtClean="0"/>
              <a:t>Optional use of JavaBeans: </a:t>
            </a:r>
            <a:r>
              <a:rPr lang="en-US" dirty="0" err="1" smtClean="0"/>
              <a:t>FormBeanFactory</a:t>
            </a:r>
            <a:r>
              <a:rPr lang="en-US" dirty="0" smtClean="0"/>
              <a:t> for parsing, validating, storing, passing request parameters</a:t>
            </a:r>
            <a:endParaRPr lang="th-TH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Model: DAOs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 class contains references to classes that access the database</a:t>
            </a:r>
          </a:p>
          <a:p>
            <a:pPr lvl="1"/>
            <a:r>
              <a:rPr lang="en-US" dirty="0" smtClean="0"/>
              <a:t>Optional use of JavaBeans: </a:t>
            </a:r>
            <a:r>
              <a:rPr lang="en-US" dirty="0" err="1" smtClean="0"/>
              <a:t>BeanFactory</a:t>
            </a:r>
            <a:r>
              <a:rPr lang="en-US" dirty="0" smtClean="0"/>
              <a:t> to move data in and out of the database</a:t>
            </a:r>
            <a:endParaRPr lang="th-TH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JSPs look at request (and session) attributes, format output</a:t>
            </a:r>
          </a:p>
          <a:p>
            <a:pPr lvl="1"/>
            <a:r>
              <a:rPr lang="en-US" dirty="0" smtClean="0"/>
              <a:t>Typically JavaBeans are passed</a:t>
            </a:r>
          </a:p>
          <a:p>
            <a:r>
              <a:rPr lang="en-US" dirty="0" smtClean="0"/>
              <a:t>Use of include files for common code makes common look and feel easy</a:t>
            </a:r>
          </a:p>
          <a:p>
            <a:r>
              <a:rPr lang="en-US" dirty="0" smtClean="0"/>
              <a:t>These JSPs are mostly very simple</a:t>
            </a:r>
          </a:p>
          <a:p>
            <a:r>
              <a:rPr lang="en-US" dirty="0" smtClean="0"/>
              <a:t>Can be other technologies</a:t>
            </a:r>
          </a:p>
          <a:p>
            <a:pPr lvl="1"/>
            <a:r>
              <a:rPr lang="en-US" dirty="0" smtClean="0"/>
              <a:t>E.g., </a:t>
            </a:r>
            <a:r>
              <a:rPr lang="en-US" dirty="0" err="1" smtClean="0"/>
              <a:t>ImageServlet</a:t>
            </a:r>
            <a:r>
              <a:rPr lang="en-US" dirty="0" smtClean="0"/>
              <a:t>: a view that sends back an image</a:t>
            </a:r>
            <a:endParaRPr lang="th-TH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MVC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Photo sharing website</a:t>
            </a:r>
          </a:p>
          <a:p>
            <a:pPr lvl="1"/>
            <a:r>
              <a:rPr lang="en-US" dirty="0" err="1" smtClean="0"/>
              <a:t>FormBeanFactory</a:t>
            </a:r>
            <a:r>
              <a:rPr lang="en-US" dirty="0" smtClean="0"/>
              <a:t> uses Jakarta Commons File Upload</a:t>
            </a:r>
          </a:p>
          <a:p>
            <a:pPr lvl="1"/>
            <a:r>
              <a:rPr lang="en-US" dirty="0" smtClean="0"/>
              <a:t>Note: The use of multi-part encoding to upload files</a:t>
            </a:r>
          </a:p>
          <a:p>
            <a:r>
              <a:rPr lang="en-US" dirty="0" smtClean="0"/>
              <a:t>Note separation of concerns:</a:t>
            </a:r>
          </a:p>
          <a:p>
            <a:pPr lvl="1"/>
            <a:r>
              <a:rPr lang="en-US" dirty="0" smtClean="0"/>
              <a:t>Controller routes to Actions</a:t>
            </a:r>
          </a:p>
          <a:p>
            <a:pPr lvl="1"/>
            <a:r>
              <a:rPr lang="en-US" dirty="0" smtClean="0"/>
              <a:t>Actions inspect </a:t>
            </a:r>
            <a:r>
              <a:rPr lang="en-US" dirty="0" err="1" smtClean="0"/>
              <a:t>params</a:t>
            </a:r>
            <a:r>
              <a:rPr lang="en-US" dirty="0" smtClean="0"/>
              <a:t>, use DAOs to get beans, pass beans to View</a:t>
            </a:r>
          </a:p>
          <a:p>
            <a:pPr lvl="1"/>
            <a:r>
              <a:rPr lang="en-US" dirty="0" smtClean="0"/>
              <a:t>DAOs manage persistent data, return beans</a:t>
            </a:r>
          </a:p>
          <a:p>
            <a:pPr lvl="1"/>
            <a:r>
              <a:rPr lang="en-US" dirty="0" smtClean="0"/>
              <a:t>Views format-only (dynamic content passed via beans)</a:t>
            </a:r>
          </a:p>
          <a:p>
            <a:r>
              <a:rPr lang="en-US" dirty="0" smtClean="0"/>
              <a:t>Non-compile checked agreements in MVC</a:t>
            </a:r>
          </a:p>
          <a:p>
            <a:pPr lvl="1"/>
            <a:r>
              <a:rPr lang="en-US" dirty="0" smtClean="0"/>
              <a:t>Need agreement on the names to invoke Actions (*.do)</a:t>
            </a:r>
          </a:p>
          <a:p>
            <a:pPr lvl="1"/>
            <a:r>
              <a:rPr lang="en-US" dirty="0" smtClean="0"/>
              <a:t>Need </a:t>
            </a:r>
            <a:r>
              <a:rPr lang="en-US" dirty="0" smtClean="0"/>
              <a:t>agreement between the HTML form and the Actions as to the parameters passed</a:t>
            </a:r>
          </a:p>
          <a:p>
            <a:pPr lvl="1"/>
            <a:r>
              <a:rPr lang="en-US" dirty="0" smtClean="0"/>
              <a:t>Need </a:t>
            </a:r>
            <a:r>
              <a:rPr lang="en-US" dirty="0" smtClean="0"/>
              <a:t>agreement on the attributes set by Actions, used by Views</a:t>
            </a:r>
          </a:p>
          <a:p>
            <a:pPr lvl="1"/>
            <a:r>
              <a:rPr lang="en-US" dirty="0" smtClean="0"/>
              <a:t>Need </a:t>
            </a:r>
            <a:r>
              <a:rPr lang="en-US" dirty="0" smtClean="0"/>
              <a:t>agreement on the names of the Views (*.jsp)</a:t>
            </a:r>
            <a:endParaRPr lang="th-TH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the best way to write JSPs?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 1: &lt;% your code goes here %&gt;</a:t>
            </a:r>
          </a:p>
          <a:p>
            <a:r>
              <a:rPr lang="en-US" dirty="0" smtClean="0"/>
              <a:t>Model 1: &lt;%= one liner %&gt;</a:t>
            </a:r>
          </a:p>
          <a:p>
            <a:r>
              <a:rPr lang="en-US" dirty="0" smtClean="0"/>
              <a:t>Model 2: </a:t>
            </a:r>
            <a:r>
              <a:rPr lang="en-US" dirty="0" err="1" smtClean="0"/>
              <a:t>Servlet</a:t>
            </a:r>
            <a:r>
              <a:rPr lang="en-US" dirty="0" smtClean="0"/>
              <a:t> forwarding to a JSP</a:t>
            </a:r>
          </a:p>
          <a:p>
            <a:r>
              <a:rPr lang="en-US" dirty="0" smtClean="0"/>
              <a:t>Model 2: MVC***</a:t>
            </a:r>
          </a:p>
          <a:p>
            <a:endParaRPr lang="th-TH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makes a web app Model 2?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Dispatches first to a </a:t>
            </a:r>
            <a:r>
              <a:rPr lang="en-US" dirty="0" err="1" smtClean="0"/>
              <a:t>servlet</a:t>
            </a:r>
            <a:r>
              <a:rPr lang="en-US" dirty="0" smtClean="0"/>
              <a:t>?</a:t>
            </a:r>
          </a:p>
          <a:p>
            <a:r>
              <a:rPr lang="en-US" dirty="0" err="1" smtClean="0"/>
              <a:t>Servlet</a:t>
            </a:r>
            <a:r>
              <a:rPr lang="en-US" dirty="0" smtClean="0"/>
              <a:t> forwards to a JSP for formatting?</a:t>
            </a:r>
          </a:p>
          <a:p>
            <a:r>
              <a:rPr lang="en-US" dirty="0" err="1" smtClean="0"/>
              <a:t>Servlet</a:t>
            </a:r>
            <a:r>
              <a:rPr lang="en-US" dirty="0" smtClean="0"/>
              <a:t> performs no formatting?</a:t>
            </a:r>
          </a:p>
          <a:p>
            <a:pPr lvl="1"/>
            <a:r>
              <a:rPr lang="en-US" dirty="0" err="1" smtClean="0"/>
              <a:t>Servlet</a:t>
            </a:r>
            <a:r>
              <a:rPr lang="en-US" dirty="0" smtClean="0"/>
              <a:t> generates no </a:t>
            </a:r>
            <a:r>
              <a:rPr lang="en-US" smtClean="0"/>
              <a:t>HTML tags</a:t>
            </a:r>
            <a:endParaRPr lang="en-US" dirty="0" smtClean="0"/>
          </a:p>
          <a:p>
            <a:r>
              <a:rPr lang="en-US" dirty="0" smtClean="0"/>
              <a:t>JSP performs no business logic?</a:t>
            </a:r>
          </a:p>
          <a:p>
            <a:pPr lvl="1"/>
            <a:r>
              <a:rPr lang="en-US" dirty="0" smtClean="0"/>
              <a:t>JSP contains no java constructs</a:t>
            </a:r>
            <a:endParaRPr lang="th-TH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Bibliography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http://cc-web.isri.cmu.edu/Panopto/Pages/Viewer/Default.aspx?id=9b8fdcaf-2179-4720-a9d5-41d5a97d54d1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3863</TotalTime>
  <Words>693</Words>
  <Application>Microsoft Office PowerPoint</Application>
  <PresentationFormat>On-screen Show (4:3)</PresentationFormat>
  <Paragraphs>107</Paragraphs>
  <Slides>15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Java &amp; J2EE Lecture 20: MVC</vt:lpstr>
      <vt:lpstr>Current Architecture? Easy?</vt:lpstr>
      <vt:lpstr>Model 1: Calling a JSP directly</vt:lpstr>
      <vt:lpstr>Model 2: Servlet =&gt; JSP</vt:lpstr>
      <vt:lpstr>Model-View-Controller</vt:lpstr>
      <vt:lpstr>Model-View-Controller</vt:lpstr>
      <vt:lpstr>Controller</vt:lpstr>
      <vt:lpstr>Controller : Abstract Action Class</vt:lpstr>
      <vt:lpstr>Controller:Concrete Action Subclasses</vt:lpstr>
      <vt:lpstr>Model: DAOs</vt:lpstr>
      <vt:lpstr>View</vt:lpstr>
      <vt:lpstr>Example of MVC</vt:lpstr>
      <vt:lpstr>What’s the best way to write JSPs?</vt:lpstr>
      <vt:lpstr>What makes a web app Model 2?</vt:lpstr>
      <vt:lpstr>Bibliography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Peratham</dc:creator>
  <cp:lastModifiedBy>Peratham</cp:lastModifiedBy>
  <cp:revision>783</cp:revision>
  <dcterms:created xsi:type="dcterms:W3CDTF">2011-12-20T05:43:53Z</dcterms:created>
  <dcterms:modified xsi:type="dcterms:W3CDTF">2012-05-23T18:12:56Z</dcterms:modified>
</cp:coreProperties>
</file>