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4" r:id="rId12"/>
    <p:sldId id="275" r:id="rId13"/>
    <p:sldId id="276" r:id="rId14"/>
    <p:sldId id="263" r:id="rId15"/>
    <p:sldId id="277" r:id="rId16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00" autoAdjust="0"/>
  </p:normalViewPr>
  <p:slideViewPr>
    <p:cSldViewPr>
      <p:cViewPr varScale="1">
        <p:scale>
          <a:sx n="68" d="100"/>
          <a:sy n="68" d="100"/>
        </p:scale>
        <p:origin x="-12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4B7D-38D6-43AA-8877-F50B9572719E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4A6BB-0F7D-4385-B260-9E7393E0BCB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Excel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</a:t>
            </a:fld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coined = invented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127-A3CF-46A3-B32F-53FCF31F7EBC}" type="datetimeFigureOut">
              <a:rPr lang="th-TH" smtClean="0"/>
              <a:pPr/>
              <a:t>31/05/55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cc-web.isri.cmu.edu/Panopto/Pages/Viewer/Default.aspx?id=af78f455-091f-4f04-aad0-a1a072168d32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424936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Java &amp; J2EE</a:t>
            </a:r>
            <a:br>
              <a:rPr lang="en-US" dirty="0" smtClean="0"/>
            </a:br>
            <a:r>
              <a:rPr lang="en-US" dirty="0" smtClean="0"/>
              <a:t>Lecture 22: AJAX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3568" y="3886200"/>
            <a:ext cx="6400800" cy="1752600"/>
          </a:xfrm>
        </p:spPr>
        <p:txBody>
          <a:bodyPr/>
          <a:lstStyle/>
          <a:p>
            <a:r>
              <a:rPr lang="en-US" dirty="0" err="1" smtClean="0"/>
              <a:t>Peratham</a:t>
            </a:r>
            <a:r>
              <a:rPr lang="en-US" dirty="0" smtClean="0"/>
              <a:t> </a:t>
            </a:r>
            <a:r>
              <a:rPr lang="en-US" dirty="0" err="1" smtClean="0"/>
              <a:t>Wiriyathammabhu</a:t>
            </a:r>
            <a:r>
              <a:rPr lang="en-US" dirty="0" err="1"/>
              <a:t>m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AJAX?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Asynchronous JavaScript And XML</a:t>
            </a:r>
          </a:p>
          <a:p>
            <a:pPr lvl="1"/>
            <a:r>
              <a:rPr lang="en-US" dirty="0" smtClean="0"/>
              <a:t>Term coined by Jesse James Garret in 2005</a:t>
            </a:r>
          </a:p>
          <a:p>
            <a:pPr lvl="2"/>
            <a:r>
              <a:rPr lang="en-US" dirty="0" smtClean="0"/>
              <a:t>Says it’s not short for Asynchronous JavaScript &amp; XML</a:t>
            </a:r>
          </a:p>
          <a:p>
            <a:pPr lvl="1"/>
            <a:r>
              <a:rPr lang="en-US" dirty="0" smtClean="0"/>
              <a:t>Term captures use of existing technology</a:t>
            </a:r>
          </a:p>
          <a:p>
            <a:pPr lvl="1"/>
            <a:r>
              <a:rPr lang="en-US" dirty="0" smtClean="0"/>
              <a:t>Gmail used these technologies in 2004</a:t>
            </a:r>
            <a:endParaRPr lang="th-T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is Not a New Language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AJAX is a technique for creating more interactive web applications</a:t>
            </a:r>
          </a:p>
          <a:p>
            <a:pPr lvl="1"/>
            <a:r>
              <a:rPr lang="en-US" dirty="0" smtClean="0"/>
              <a:t>Use an </a:t>
            </a:r>
            <a:r>
              <a:rPr lang="en-US" dirty="0" err="1" smtClean="0"/>
              <a:t>XMLHttpRequest</a:t>
            </a:r>
            <a:r>
              <a:rPr lang="en-US" dirty="0" smtClean="0"/>
              <a:t> Object to make requests to the </a:t>
            </a:r>
            <a:r>
              <a:rPr lang="en-US" dirty="0" err="1" smtClean="0"/>
              <a:t>webserver</a:t>
            </a:r>
            <a:r>
              <a:rPr lang="en-US" dirty="0" smtClean="0"/>
              <a:t> for data asynchronously (or synchronously)</a:t>
            </a:r>
          </a:p>
          <a:p>
            <a:pPr lvl="1"/>
            <a:r>
              <a:rPr lang="en-US" dirty="0" smtClean="0"/>
              <a:t>Receive server data as XML (or text or …)</a:t>
            </a:r>
          </a:p>
          <a:p>
            <a:pPr lvl="1"/>
            <a:r>
              <a:rPr lang="en-US" dirty="0" smtClean="0"/>
              <a:t>Convert the XML into a DOM tree</a:t>
            </a:r>
          </a:p>
          <a:p>
            <a:pPr lvl="1"/>
            <a:r>
              <a:rPr lang="en-US" dirty="0" smtClean="0"/>
              <a:t>Extract data from the XML DOM tree and change the HTML document’s DOM tree (thereby updating the page)</a:t>
            </a:r>
          </a:p>
          <a:p>
            <a:r>
              <a:rPr lang="en-US" dirty="0" smtClean="0"/>
              <a:t>Program the above using JavaScript</a:t>
            </a:r>
            <a:endParaRPr lang="th-T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Advantages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interactive web sites</a:t>
            </a:r>
          </a:p>
          <a:p>
            <a:pPr lvl="1"/>
            <a:r>
              <a:rPr lang="en-US" dirty="0" smtClean="0"/>
              <a:t>The page is not reloaded</a:t>
            </a:r>
          </a:p>
          <a:p>
            <a:pPr lvl="2"/>
            <a:r>
              <a:rPr lang="en-US" dirty="0" smtClean="0"/>
              <a:t>You only change parts of the page</a:t>
            </a:r>
          </a:p>
          <a:p>
            <a:pPr lvl="1"/>
            <a:r>
              <a:rPr lang="en-US" dirty="0" smtClean="0"/>
              <a:t>Requests can be executed asynchronously</a:t>
            </a:r>
          </a:p>
          <a:p>
            <a:pPr lvl="2"/>
            <a:r>
              <a:rPr lang="en-US" dirty="0" smtClean="0"/>
              <a:t>So the user can continue to interact with the page during requests to the server</a:t>
            </a:r>
          </a:p>
          <a:p>
            <a:r>
              <a:rPr lang="en-US" dirty="0" smtClean="0"/>
              <a:t>Reduces load on server</a:t>
            </a:r>
          </a:p>
          <a:p>
            <a:pPr lvl="1"/>
            <a:r>
              <a:rPr lang="en-US" dirty="0" smtClean="0"/>
              <a:t>A lot of the formatting of the result is offloaded to the client browser</a:t>
            </a:r>
            <a:endParaRPr lang="th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in JavaScript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You can use the “new” operator</a:t>
            </a:r>
          </a:p>
          <a:p>
            <a:pPr lvl="1"/>
            <a:r>
              <a:rPr lang="en-US" dirty="0" smtClean="0"/>
              <a:t>This will create an object</a:t>
            </a:r>
          </a:p>
          <a:p>
            <a:pPr lvl="2"/>
            <a:r>
              <a:rPr lang="en-US" dirty="0" smtClean="0"/>
              <a:t>Example:</a:t>
            </a:r>
          </a:p>
          <a:p>
            <a:pPr lvl="3">
              <a:buNone/>
            </a:pPr>
            <a:r>
              <a:rPr lang="en-US" dirty="0" err="1" smtClean="0"/>
              <a:t>var</a:t>
            </a:r>
            <a:r>
              <a:rPr lang="en-US" dirty="0" smtClean="0"/>
              <a:t> user = new </a:t>
            </a:r>
            <a:r>
              <a:rPr lang="en-US" dirty="0" err="1" smtClean="0"/>
              <a:t>userObject</a:t>
            </a:r>
            <a:r>
              <a:rPr lang="en-US" dirty="0" smtClean="0"/>
              <a:t>(“</a:t>
            </a:r>
            <a:r>
              <a:rPr lang="en-US" dirty="0" err="1" smtClean="0"/>
              <a:t>mjs”,”sylvia</a:t>
            </a:r>
            <a:r>
              <a:rPr lang="en-US" dirty="0" smtClean="0"/>
              <a:t>”);</a:t>
            </a:r>
          </a:p>
          <a:p>
            <a:pPr lvl="3">
              <a:buNone/>
            </a:pPr>
            <a:r>
              <a:rPr lang="en-US" dirty="0" smtClean="0"/>
              <a:t>function </a:t>
            </a:r>
            <a:r>
              <a:rPr lang="en-US" dirty="0" err="1" smtClean="0"/>
              <a:t>userObject</a:t>
            </a:r>
            <a:r>
              <a:rPr lang="en-US" dirty="0" smtClean="0"/>
              <a:t>(</a:t>
            </a:r>
            <a:r>
              <a:rPr lang="en-US" dirty="0" err="1" smtClean="0"/>
              <a:t>userid</a:t>
            </a:r>
            <a:r>
              <a:rPr lang="en-US" dirty="0" smtClean="0"/>
              <a:t>, password) {…}</a:t>
            </a:r>
          </a:p>
          <a:p>
            <a:pPr lvl="1"/>
            <a:r>
              <a:rPr lang="en-US" dirty="0" smtClean="0"/>
              <a:t>You can set properties on the object</a:t>
            </a:r>
          </a:p>
          <a:p>
            <a:pPr lvl="2"/>
            <a:r>
              <a:rPr lang="en-US" dirty="0" smtClean="0"/>
              <a:t>Example:	</a:t>
            </a:r>
            <a:r>
              <a:rPr lang="en-US" dirty="0" err="1" smtClean="0"/>
              <a:t>this.userid</a:t>
            </a:r>
            <a:r>
              <a:rPr lang="en-US" dirty="0" smtClean="0"/>
              <a:t> = </a:t>
            </a:r>
            <a:r>
              <a:rPr lang="en-US" dirty="0" err="1" smtClean="0"/>
              <a:t>userid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Properties can be functions =&gt; instance methods</a:t>
            </a:r>
          </a:p>
          <a:p>
            <a:pPr lvl="2"/>
            <a:r>
              <a:rPr lang="en-US" dirty="0" smtClean="0"/>
              <a:t>Example:	</a:t>
            </a:r>
            <a:r>
              <a:rPr lang="en-US" dirty="0" err="1" smtClean="0"/>
              <a:t>this.salt</a:t>
            </a:r>
            <a:r>
              <a:rPr lang="en-US" dirty="0" smtClean="0"/>
              <a:t> = </a:t>
            </a:r>
            <a:r>
              <a:rPr lang="en-US" dirty="0" err="1" smtClean="0"/>
              <a:t>computeSalt</a:t>
            </a:r>
            <a:r>
              <a:rPr lang="en-US" dirty="0" smtClean="0"/>
              <a:t>;</a:t>
            </a:r>
          </a:p>
          <a:p>
            <a:pPr lvl="2"/>
            <a:r>
              <a:rPr lang="en-US" dirty="0" smtClean="0"/>
              <a:t>Where:	function </a:t>
            </a:r>
            <a:r>
              <a:rPr lang="en-US" dirty="0" err="1" smtClean="0"/>
              <a:t>computeSalt</a:t>
            </a:r>
            <a:r>
              <a:rPr lang="en-US" dirty="0" smtClean="0"/>
              <a:t>() {…}</a:t>
            </a:r>
            <a:endParaRPr lang="th-TH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XMLHttpRequest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It’s a native object</a:t>
            </a:r>
          </a:p>
          <a:p>
            <a:pPr lvl="1"/>
            <a:r>
              <a:rPr lang="en-US" dirty="0" smtClean="0"/>
              <a:t>Except in IE, where it’s an ActiveX object</a:t>
            </a:r>
            <a:endParaRPr lang="en-US" dirty="0" smtClean="0"/>
          </a:p>
          <a:p>
            <a:r>
              <a:rPr lang="en-US" dirty="0" smtClean="0"/>
              <a:t>Important Event</a:t>
            </a:r>
          </a:p>
          <a:p>
            <a:pPr lvl="1"/>
            <a:r>
              <a:rPr lang="en-US" dirty="0" err="1" smtClean="0"/>
              <a:t>onreadystatechange</a:t>
            </a:r>
            <a:endParaRPr lang="en-US" dirty="0" smtClean="0"/>
          </a:p>
          <a:p>
            <a:r>
              <a:rPr lang="en-US" dirty="0" smtClean="0"/>
              <a:t>Important Methods</a:t>
            </a:r>
          </a:p>
          <a:p>
            <a:pPr lvl="1"/>
            <a:r>
              <a:rPr lang="en-US" dirty="0" smtClean="0"/>
              <a:t>open(method, </a:t>
            </a:r>
            <a:r>
              <a:rPr lang="en-US" dirty="0" err="1" smtClean="0"/>
              <a:t>url</a:t>
            </a:r>
            <a:r>
              <a:rPr lang="en-US" dirty="0" smtClean="0"/>
              <a:t>, </a:t>
            </a:r>
            <a:r>
              <a:rPr lang="en-US" dirty="0" err="1" smtClean="0"/>
              <a:t>async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setRequestHeader</a:t>
            </a:r>
            <a:r>
              <a:rPr lang="en-US" dirty="0" smtClean="0"/>
              <a:t>(label, value)</a:t>
            </a:r>
          </a:p>
          <a:p>
            <a:pPr lvl="1"/>
            <a:r>
              <a:rPr lang="en-US" dirty="0" smtClean="0"/>
              <a:t>send(content)</a:t>
            </a:r>
            <a:endParaRPr lang="en-US" dirty="0" smtClean="0"/>
          </a:p>
          <a:p>
            <a:r>
              <a:rPr lang="en-US" dirty="0" smtClean="0"/>
              <a:t>Important Properties</a:t>
            </a:r>
          </a:p>
          <a:p>
            <a:pPr lvl="1"/>
            <a:r>
              <a:rPr lang="en-US" dirty="0" err="1" smtClean="0"/>
              <a:t>readyState</a:t>
            </a:r>
            <a:r>
              <a:rPr lang="en-US" dirty="0" smtClean="0"/>
              <a:t> (0 = before open, 4 = response received)</a:t>
            </a:r>
          </a:p>
          <a:p>
            <a:pPr lvl="1"/>
            <a:r>
              <a:rPr lang="en-US" dirty="0" smtClean="0"/>
              <a:t>status (200 = OK, 404 = not found, etc.)</a:t>
            </a:r>
          </a:p>
          <a:p>
            <a:pPr lvl="1"/>
            <a:r>
              <a:rPr lang="en-US" dirty="0" err="1" smtClean="0"/>
              <a:t>responseXML</a:t>
            </a:r>
            <a:endParaRPr lang="en-US" dirty="0" smtClean="0"/>
          </a:p>
          <a:p>
            <a:pPr lvl="1"/>
            <a:r>
              <a:rPr lang="en-US" dirty="0" err="1" smtClean="0"/>
              <a:t>responseText</a:t>
            </a:r>
            <a:endParaRPr lang="th-T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Asynchronous Request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XMLHttpRequests</a:t>
            </a:r>
            <a:endParaRPr lang="en-US" dirty="0" smtClean="0"/>
          </a:p>
          <a:p>
            <a:pPr lvl="1"/>
            <a:r>
              <a:rPr lang="en-US" dirty="0" smtClean="0"/>
              <a:t>Requests can be sent asynchronously (or synchronously)</a:t>
            </a:r>
          </a:p>
          <a:p>
            <a:pPr lvl="1"/>
            <a:r>
              <a:rPr lang="en-US" dirty="0" smtClean="0"/>
              <a:t>When the state of the request changes, your JavaScript method is called</a:t>
            </a:r>
            <a:endParaRPr lang="th-T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Bibliography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http://cc-web.isri.cmu.edu/Panopto/Pages/Viewer/Default.aspx?id=af78f455-091f-4f04-aad0-a1a072168d32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POST Request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Advanced Search Capability in </a:t>
            </a:r>
            <a:r>
              <a:rPr lang="en-US" dirty="0" err="1" smtClean="0"/>
              <a:t>AddrBook</a:t>
            </a:r>
            <a:r>
              <a:rPr lang="en-US" dirty="0" smtClean="0"/>
              <a:t> Example</a:t>
            </a:r>
          </a:p>
          <a:p>
            <a:r>
              <a:rPr lang="en-US" dirty="0" smtClean="0"/>
              <a:t>advanced-search.jsp</a:t>
            </a:r>
          </a:p>
          <a:p>
            <a:pPr lvl="1"/>
            <a:r>
              <a:rPr lang="en-US" dirty="0" smtClean="0"/>
              <a:t>Uses </a:t>
            </a:r>
            <a:r>
              <a:rPr lang="en-US" dirty="0" err="1" smtClean="0"/>
              <a:t>onKeyUp</a:t>
            </a:r>
            <a:r>
              <a:rPr lang="en-US" dirty="0" smtClean="0"/>
              <a:t> event to call JavaScript</a:t>
            </a:r>
          </a:p>
          <a:p>
            <a:r>
              <a:rPr lang="en-US" dirty="0" smtClean="0"/>
              <a:t>advanced-search.js</a:t>
            </a:r>
          </a:p>
          <a:p>
            <a:pPr lvl="1"/>
            <a:r>
              <a:rPr lang="en-US" dirty="0" smtClean="0"/>
              <a:t>Uses </a:t>
            </a:r>
            <a:r>
              <a:rPr lang="en-US" dirty="0" err="1" smtClean="0"/>
              <a:t>XMLHttpRequest</a:t>
            </a:r>
            <a:r>
              <a:rPr lang="en-US" dirty="0" smtClean="0"/>
              <a:t> to obtain matches</a:t>
            </a:r>
          </a:p>
          <a:p>
            <a:pPr lvl="2"/>
            <a:r>
              <a:rPr lang="en-US" dirty="0" smtClean="0"/>
              <a:t>Uses POST method</a:t>
            </a:r>
          </a:p>
          <a:p>
            <a:pPr lvl="2"/>
            <a:r>
              <a:rPr lang="en-US" dirty="0" smtClean="0"/>
              <a:t>Makes asynchronous call</a:t>
            </a:r>
          </a:p>
          <a:p>
            <a:pPr lvl="1"/>
            <a:r>
              <a:rPr lang="en-US" dirty="0" smtClean="0"/>
              <a:t>Updates the HTML DOM tree with results</a:t>
            </a:r>
          </a:p>
          <a:p>
            <a:r>
              <a:rPr lang="en-US" dirty="0" err="1" smtClean="0"/>
              <a:t>AdvancedSearchAjaxAction</a:t>
            </a:r>
            <a:endParaRPr lang="en-US" dirty="0" smtClean="0"/>
          </a:p>
          <a:p>
            <a:pPr lvl="1"/>
            <a:r>
              <a:rPr lang="en-US" dirty="0" smtClean="0"/>
              <a:t>Uses DAO to get matches</a:t>
            </a:r>
          </a:p>
          <a:p>
            <a:pPr lvl="1"/>
            <a:r>
              <a:rPr lang="en-US" dirty="0" smtClean="0"/>
              <a:t>Formats the results into XML using JSP</a:t>
            </a:r>
            <a:endParaRPr lang="th-TH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4288</TotalTime>
  <Words>360</Words>
  <Application>Microsoft Office PowerPoint</Application>
  <PresentationFormat>On-screen Show (4:3)</PresentationFormat>
  <Paragraphs>70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Java &amp; J2EE Lecture 22: AJAX</vt:lpstr>
      <vt:lpstr>What is AJAX?</vt:lpstr>
      <vt:lpstr>AJAX is Not a New Language</vt:lpstr>
      <vt:lpstr>AJAX Advantages</vt:lpstr>
      <vt:lpstr>Object in JavaScript</vt:lpstr>
      <vt:lpstr>XMLHttpRequest</vt:lpstr>
      <vt:lpstr>Asynchronous Request</vt:lpstr>
      <vt:lpstr>Slide 8</vt:lpstr>
      <vt:lpstr>Slide 9</vt:lpstr>
      <vt:lpstr>Slide 10</vt:lpstr>
      <vt:lpstr>Slide 11</vt:lpstr>
      <vt:lpstr>Slide 12</vt:lpstr>
      <vt:lpstr>Slide 13</vt:lpstr>
      <vt:lpstr>Bibliography</vt:lpstr>
      <vt:lpstr>Example POST Request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Peratham</dc:creator>
  <cp:lastModifiedBy>Peratham</cp:lastModifiedBy>
  <cp:revision>828</cp:revision>
  <dcterms:created xsi:type="dcterms:W3CDTF">2011-12-20T05:43:53Z</dcterms:created>
  <dcterms:modified xsi:type="dcterms:W3CDTF">2012-05-30T19:49:48Z</dcterms:modified>
</cp:coreProperties>
</file>