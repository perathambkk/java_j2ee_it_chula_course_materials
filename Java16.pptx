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  <p:sldId id="272" r:id="rId11"/>
    <p:sldId id="277" r:id="rId12"/>
    <p:sldId id="273" r:id="rId13"/>
    <p:sldId id="274" r:id="rId14"/>
    <p:sldId id="275" r:id="rId15"/>
    <p:sldId id="276" r:id="rId16"/>
    <p:sldId id="263" r:id="rId17"/>
  </p:sldIdLst>
  <p:sldSz cx="9144000" cy="6858000" type="screen4x3"/>
  <p:notesSz cx="6858000" cy="9144000"/>
  <p:defaultTextStyle>
    <a:defPPr>
      <a:defRPr lang="th-TH"/>
    </a:defPPr>
    <a:lvl1pPr marL="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2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25E5076-3810-47DD-B79F-674D7AD40C01}" styleName="Dark Style 1 - Accent 1">
    <a:wholeTbl>
      <a:tcTxStyle>
        <a:fontRef idx="minor">
          <a:scrgbClr r="0" g="0" b="0"/>
        </a:fontRef>
        <a:schemeClr val="lt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wholeTbl>
    <a:band1H>
      <a:tcStyle>
        <a:tcBdr/>
        <a:fill>
          <a:solidFill>
            <a:schemeClr val="accent1">
              <a:shade val="60000"/>
            </a:schemeClr>
          </a:solidFill>
        </a:fill>
      </a:tcStyle>
    </a:band1H>
    <a:band1V>
      <a:tcStyle>
        <a:tcBdr/>
        <a:fill>
          <a:solidFill>
            <a:schemeClr val="accent1">
              <a:shade val="60000"/>
            </a:schemeClr>
          </a:solidFill>
        </a:fill>
      </a:tcStyle>
    </a:band1V>
    <a:lastCol>
      <a:tcTxStyle b="on"/>
      <a:tcStyle>
        <a:tcBdr>
          <a:left>
            <a:ln w="25400" cmpd="sng">
              <a:solidFill>
                <a:schemeClr val="lt1"/>
              </a:solidFill>
            </a:ln>
          </a:left>
        </a:tcBdr>
        <a:fill>
          <a:solidFill>
            <a:schemeClr val="accent1">
              <a:shade val="60000"/>
            </a:schemeClr>
          </a:solidFill>
        </a:fill>
      </a:tcStyle>
    </a:lastCol>
    <a:firstCol>
      <a:tcTxStyle b="on"/>
      <a:tcStyle>
        <a:tcBdr>
          <a:right>
            <a:ln w="25400" cmpd="sng">
              <a:solidFill>
                <a:schemeClr val="lt1"/>
              </a:solidFill>
            </a:ln>
          </a:right>
        </a:tcBdr>
        <a:fill>
          <a:solidFill>
            <a:schemeClr val="accent1">
              <a:shade val="60000"/>
            </a:schemeClr>
          </a:solidFill>
        </a:fill>
      </a:tcStyle>
    </a:firstCol>
    <a:lastRow>
      <a:tcTxStyle b="on"/>
      <a:tcStyle>
        <a:tcBdr>
          <a:top>
            <a:ln w="25400" cmpd="sng">
              <a:solidFill>
                <a:schemeClr val="lt1"/>
              </a:solidFill>
            </a:ln>
          </a:top>
        </a:tcBdr>
        <a:fill>
          <a:solidFill>
            <a:schemeClr val="accent1">
              <a:shade val="40000"/>
            </a:schemeClr>
          </a:solidFill>
        </a:fill>
      </a:tcStyle>
    </a:lastRow>
    <a:seCell>
      <a:tcStyle>
        <a:tcBdr>
          <a:left>
            <a:ln>
              <a:noFill/>
            </a:ln>
          </a:left>
        </a:tcBdr>
      </a:tcStyle>
    </a:seCell>
    <a:swCell>
      <a:tcStyle>
        <a:tcBdr>
          <a:right>
            <a:ln>
              <a:noFill/>
            </a:ln>
          </a:right>
        </a:tcBdr>
      </a:tcStyle>
    </a:swCell>
    <a:firstRow>
      <a:tcTxStyle b="on"/>
      <a:tcStyle>
        <a:tcBdr>
          <a:bottom>
            <a:ln w="254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  <a:neCell>
      <a:tcStyle>
        <a:tcBdr>
          <a:left>
            <a:ln>
              <a:noFill/>
            </a:ln>
          </a:left>
        </a:tcBdr>
      </a:tcStyle>
    </a:neCell>
    <a:nwCell>
      <a:tcStyle>
        <a:tcBdr>
          <a:right>
            <a:ln>
              <a:noFill/>
            </a:ln>
          </a:right>
        </a:tcBdr>
      </a:tcStyle>
    </a:nwCell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7000" autoAdjust="0"/>
  </p:normalViewPr>
  <p:slideViewPr>
    <p:cSldViewPr>
      <p:cViewPr varScale="1">
        <p:scale>
          <a:sx n="68" d="100"/>
          <a:sy n="68" d="100"/>
        </p:scale>
        <p:origin x="-1224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62C4B7D-38D6-43AA-8877-F50B9572719E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th-T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544A6BB-0F7D-4385-B260-9E7393E0BCB5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Read Excel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</a:t>
            </a:fld>
            <a:endParaRPr lang="th-TH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2</a:t>
            </a:fld>
            <a:endParaRPr lang="th-TH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11</a:t>
            </a:fld>
            <a:endParaRPr lang="th-TH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Transcend = rise above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14</a:t>
            </a:fld>
            <a:endParaRPr lang="th-TH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filter</a:t>
            </a:r>
          </a:p>
          <a:p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@</a:t>
            </a:r>
            <a:r>
              <a:rPr lang="en-US" sz="18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WebServlet</a:t>
            </a:r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("/</a:t>
            </a:r>
            <a:r>
              <a:rPr lang="en-US" sz="1800" kern="1200" dirty="0" err="1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URLRewriting</a:t>
            </a:r>
            <a:r>
              <a:rPr lang="en-US" sz="1800" kern="1200" dirty="0" smtClean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")</a:t>
            </a:r>
            <a:endParaRPr lang="th-T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44A6BB-0F7D-4385-B260-9E7393E0BCB5}" type="slidenum">
              <a:rPr lang="th-TH" smtClean="0"/>
              <a:pPr/>
              <a:t>16</a:t>
            </a:fld>
            <a:endParaRPr lang="th-TH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th-TH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th-TH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th-TH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BFC0127-A3CF-46A3-B32F-53FCF31F7EBC}" type="datetimeFigureOut">
              <a:rPr lang="th-TH" smtClean="0"/>
              <a:pPr/>
              <a:t>26/04/55</a:t>
            </a:fld>
            <a:endParaRPr lang="th-TH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th-TH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C0182A-8E54-4F4B-8D5A-4E160E6383EE}" type="slidenum">
              <a:rPr lang="th-TH" smtClean="0"/>
              <a:pPr/>
              <a:t>‹#›</a:t>
            </a:fld>
            <a:endParaRPr lang="th-TH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th-TH"/>
      </a:defPPr>
      <a:lvl1pPr marL="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2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://cc-web.isri.cmu.edu/Panopto/Pages/Viewer/Default.aspx?id=8ab6a72e-7052-45dd-ae85-0b259de900a5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395536" y="2130425"/>
            <a:ext cx="8424936" cy="1470025"/>
          </a:xfrm>
        </p:spPr>
        <p:txBody>
          <a:bodyPr>
            <a:normAutofit/>
          </a:bodyPr>
          <a:lstStyle/>
          <a:p>
            <a:r>
              <a:rPr lang="en-US" dirty="0" smtClean="0"/>
              <a:t>Java &amp; J2EE</a:t>
            </a:r>
            <a:br>
              <a:rPr lang="en-US" dirty="0" smtClean="0"/>
            </a:br>
            <a:r>
              <a:rPr lang="en-US" dirty="0" smtClean="0"/>
              <a:t>Lecture 16</a:t>
            </a:r>
            <a:r>
              <a:rPr lang="en-US" smtClean="0"/>
              <a:t>: Sessions</a:t>
            </a:r>
            <a:endParaRPr lang="th-TH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83568" y="3886200"/>
            <a:ext cx="6400800" cy="1752600"/>
          </a:xfrm>
        </p:spPr>
        <p:txBody>
          <a:bodyPr/>
          <a:lstStyle/>
          <a:p>
            <a:r>
              <a:rPr lang="en-US" dirty="0" err="1" smtClean="0"/>
              <a:t>Peratham</a:t>
            </a:r>
            <a:r>
              <a:rPr lang="en-US" dirty="0" smtClean="0"/>
              <a:t> </a:t>
            </a:r>
            <a:r>
              <a:rPr lang="en-US" dirty="0" err="1" smtClean="0"/>
              <a:t>Wiriyathammabhu</a:t>
            </a:r>
            <a:r>
              <a:rPr lang="en-US" dirty="0" err="1"/>
              <a:t>m</a:t>
            </a:r>
            <a:endParaRPr lang="th-TH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Hidden Fields in HTML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 smtClean="0"/>
              <a:t>Maintain data correlated with a page</a:t>
            </a:r>
          </a:p>
          <a:p>
            <a:pPr lvl="1"/>
            <a:r>
              <a:rPr lang="en-US" dirty="0" smtClean="0"/>
              <a:t>They are embedded in the page</a:t>
            </a:r>
          </a:p>
          <a:p>
            <a:pPr lvl="1"/>
            <a:r>
              <a:rPr lang="en-US" dirty="0" smtClean="0"/>
              <a:t>Especially helpful with context changes with back button</a:t>
            </a:r>
          </a:p>
          <a:p>
            <a:r>
              <a:rPr lang="en-US" dirty="0" smtClean="0"/>
              <a:t>It’s a type of field that you can put in an HTML form</a:t>
            </a:r>
          </a:p>
          <a:p>
            <a:pPr lvl="1"/>
            <a:r>
              <a:rPr lang="en-US" dirty="0" smtClean="0"/>
              <a:t>&lt;input type=“hidden” name=“</a:t>
            </a:r>
            <a:r>
              <a:rPr lang="en-US" dirty="0" err="1" smtClean="0"/>
              <a:t>fname</a:t>
            </a:r>
            <a:r>
              <a:rPr lang="en-US" dirty="0" smtClean="0"/>
              <a:t>” value=“Joe”/&gt;</a:t>
            </a:r>
          </a:p>
          <a:p>
            <a:r>
              <a:rPr lang="en-US" dirty="0" smtClean="0"/>
              <a:t>This field is not displayed, but it’s value is returned as a parameter on the subsequent request</a:t>
            </a:r>
          </a:p>
          <a:p>
            <a:r>
              <a:rPr lang="en-US" dirty="0" smtClean="0"/>
              <a:t>Is this secure?</a:t>
            </a:r>
            <a:endParaRPr lang="th-TH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Things to Notice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Hidden fields in the HTML</a:t>
            </a:r>
          </a:p>
          <a:p>
            <a:r>
              <a:rPr lang="en-US" dirty="0" smtClean="0"/>
              <a:t>The use of POST method</a:t>
            </a:r>
          </a:p>
          <a:p>
            <a:r>
              <a:rPr lang="en-US" dirty="0" smtClean="0"/>
              <a:t>The implementation of </a:t>
            </a:r>
            <a:r>
              <a:rPr lang="en-US" dirty="0" err="1" smtClean="0"/>
              <a:t>doPost</a:t>
            </a:r>
            <a:r>
              <a:rPr lang="en-US" dirty="0" smtClean="0"/>
              <a:t>()</a:t>
            </a:r>
            <a:endParaRPr lang="th-TH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Cookie in the web context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 smtClean="0"/>
              <a:t>Maintain data correlated with the client machine</a:t>
            </a:r>
          </a:p>
          <a:p>
            <a:r>
              <a:rPr lang="en-US" dirty="0" smtClean="0"/>
              <a:t>A cookie is a piece of information that a site hands to your browser</a:t>
            </a:r>
          </a:p>
          <a:p>
            <a:r>
              <a:rPr lang="en-US" dirty="0" smtClean="0"/>
              <a:t>The browser (and probably you) don’t know how to interpret the cookie</a:t>
            </a:r>
          </a:p>
          <a:p>
            <a:r>
              <a:rPr lang="en-US" dirty="0" smtClean="0"/>
              <a:t>The browser hands the site the cookie on each subsequent request</a:t>
            </a:r>
          </a:p>
          <a:p>
            <a:pPr lvl="1"/>
            <a:r>
              <a:rPr lang="en-US" dirty="0" smtClean="0"/>
              <a:t>Unless the cookie is deleted, expired, modified, etc</a:t>
            </a:r>
          </a:p>
          <a:p>
            <a:r>
              <a:rPr lang="en-US" dirty="0" smtClean="0"/>
              <a:t>Do you know who’s been giving you cookies?</a:t>
            </a:r>
            <a:endParaRPr lang="th-TH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Cookies don’t always taste good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 smtClean="0"/>
              <a:t>Cookies can only contain a little data</a:t>
            </a:r>
          </a:p>
          <a:p>
            <a:pPr lvl="1"/>
            <a:r>
              <a:rPr lang="en-US" dirty="0" smtClean="0"/>
              <a:t>up to only 4kb</a:t>
            </a:r>
          </a:p>
          <a:p>
            <a:r>
              <a:rPr lang="en-US" dirty="0" smtClean="0"/>
              <a:t>Cookies might not be accepted by the browser</a:t>
            </a:r>
          </a:p>
          <a:p>
            <a:pPr lvl="1"/>
            <a:r>
              <a:rPr lang="en-US" dirty="0" smtClean="0"/>
              <a:t>Do you accept cookies</a:t>
            </a:r>
          </a:p>
          <a:p>
            <a:r>
              <a:rPr lang="en-US" dirty="0" smtClean="0"/>
              <a:t>Cookies optionally may be stored on disk</a:t>
            </a:r>
          </a:p>
          <a:p>
            <a:r>
              <a:rPr lang="en-US" dirty="0" smtClean="0"/>
              <a:t>Cookies can be modified by the user</a:t>
            </a:r>
          </a:p>
          <a:p>
            <a:r>
              <a:rPr lang="en-US" dirty="0" smtClean="0"/>
              <a:t>Cookies can get state or thrown out</a:t>
            </a:r>
          </a:p>
          <a:p>
            <a:pPr lvl="1"/>
            <a:r>
              <a:rPr lang="en-US" dirty="0" smtClean="0"/>
              <a:t>expired or deleted</a:t>
            </a:r>
            <a:endParaRPr lang="th-TH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Cookie Examples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Sites with a “Remember me on this computer” check box</a:t>
            </a:r>
          </a:p>
          <a:p>
            <a:r>
              <a:rPr lang="en-US" dirty="0" smtClean="0"/>
              <a:t>Sites that track your activity and preferences:</a:t>
            </a:r>
          </a:p>
          <a:p>
            <a:pPr lvl="1"/>
            <a:r>
              <a:rPr lang="en-US" dirty="0" smtClean="0"/>
              <a:t>cnn.com</a:t>
            </a:r>
          </a:p>
          <a:p>
            <a:pPr lvl="1"/>
            <a:r>
              <a:rPr lang="en-US" dirty="0" smtClean="0"/>
              <a:t>embedded images, you got cookies, they know everywhere you have been.</a:t>
            </a:r>
          </a:p>
          <a:p>
            <a:pPr lvl="1"/>
            <a:endParaRPr lang="en-US" dirty="0" smtClean="0"/>
          </a:p>
          <a:p>
            <a:pPr lvl="1"/>
            <a:endParaRPr lang="th-TH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Maintain data correlated with browser session</a:t>
            </a:r>
          </a:p>
          <a:p>
            <a:r>
              <a:rPr lang="en-US" dirty="0" smtClean="0"/>
              <a:t>Cookies are typically used to implement sessions</a:t>
            </a:r>
          </a:p>
          <a:p>
            <a:pPr lvl="1"/>
            <a:r>
              <a:rPr lang="en-US" dirty="0" smtClean="0"/>
              <a:t>A session id is stored in the cookie</a:t>
            </a:r>
          </a:p>
          <a:p>
            <a:pPr lvl="2"/>
            <a:r>
              <a:rPr lang="en-US" dirty="0" smtClean="0"/>
              <a:t>It’s big and ugly</a:t>
            </a:r>
          </a:p>
          <a:p>
            <a:pPr lvl="1"/>
            <a:r>
              <a:rPr lang="en-US" dirty="0" smtClean="0"/>
              <a:t>Maintain a list of (name, object) pairs in the server</a:t>
            </a:r>
          </a:p>
          <a:p>
            <a:r>
              <a:rPr lang="en-US" dirty="0" smtClean="0"/>
              <a:t>Implemented by </a:t>
            </a:r>
            <a:r>
              <a:rPr lang="en-US" dirty="0" err="1" smtClean="0"/>
              <a:t>HttpSession</a:t>
            </a:r>
            <a:r>
              <a:rPr lang="en-US" dirty="0" smtClean="0"/>
              <a:t> class</a:t>
            </a:r>
          </a:p>
          <a:p>
            <a:pPr lvl="1"/>
            <a:r>
              <a:rPr lang="en-US" dirty="0" smtClean="0"/>
              <a:t>Handles stale sessions</a:t>
            </a:r>
            <a:endParaRPr lang="th-TH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Access Controller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n-US" dirty="0" smtClean="0"/>
              <a:t>All requests go to one place: a “controller”</a:t>
            </a:r>
          </a:p>
          <a:p>
            <a:r>
              <a:rPr lang="en-US" dirty="0" smtClean="0"/>
              <a:t>Controller handles login</a:t>
            </a:r>
          </a:p>
          <a:p>
            <a:pPr lvl="1"/>
            <a:r>
              <a:rPr lang="en-US" dirty="0" smtClean="0"/>
              <a:t>Checks a cookie, logs you in if found</a:t>
            </a:r>
          </a:p>
          <a:p>
            <a:pPr lvl="1"/>
            <a:r>
              <a:rPr lang="en-US" dirty="0" smtClean="0"/>
              <a:t>Checks session variable (“login”)</a:t>
            </a:r>
          </a:p>
          <a:p>
            <a:pPr lvl="1"/>
            <a:r>
              <a:rPr lang="en-US" dirty="0" smtClean="0"/>
              <a:t>If not logged in, puts up login page, checks code, redirects to original page</a:t>
            </a:r>
          </a:p>
          <a:p>
            <a:pPr lvl="1"/>
            <a:r>
              <a:rPr lang="en-US" dirty="0" smtClean="0"/>
              <a:t>Otherwise, just put up the page</a:t>
            </a:r>
          </a:p>
          <a:p>
            <a:pPr lvl="1"/>
            <a:r>
              <a:rPr lang="en-US" dirty="0" smtClean="0"/>
              <a:t>Logs all accesses using HttpServlet.log() method (%TOMCAT_DIR\logs)</a:t>
            </a:r>
          </a:p>
          <a:p>
            <a:r>
              <a:rPr lang="en-US" dirty="0" smtClean="0"/>
              <a:t>Parameters for application set in web.xml</a:t>
            </a:r>
          </a:p>
          <a:p>
            <a:pPr lvl="1"/>
            <a:r>
              <a:rPr lang="en-US" dirty="0" smtClean="0"/>
              <a:t>Obtained in init() method using </a:t>
            </a:r>
            <a:r>
              <a:rPr lang="en-US" dirty="0" err="1" smtClean="0"/>
              <a:t>HttpServlet.getInitParameter</a:t>
            </a:r>
            <a:r>
              <a:rPr lang="en-US" dirty="0" smtClean="0"/>
              <a:t>()</a:t>
            </a:r>
          </a:p>
          <a:p>
            <a:r>
              <a:rPr lang="en-US" dirty="0" smtClean="0"/>
              <a:t>All content in a content directory</a:t>
            </a:r>
          </a:p>
          <a:p>
            <a:pPr lvl="1"/>
            <a:r>
              <a:rPr lang="en-US" dirty="0" smtClean="0"/>
              <a:t>Allows easy use of tools for content preparation</a:t>
            </a:r>
            <a:endParaRPr lang="th-TH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What if the browser doesn’t accept cookies?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Put the </a:t>
            </a:r>
            <a:r>
              <a:rPr lang="en-US" dirty="0" err="1" smtClean="0"/>
              <a:t>sessionId</a:t>
            </a:r>
            <a:r>
              <a:rPr lang="en-US" dirty="0" smtClean="0"/>
              <a:t> in the </a:t>
            </a:r>
            <a:r>
              <a:rPr lang="en-US" dirty="0" err="1" smtClean="0"/>
              <a:t>url</a:t>
            </a:r>
            <a:r>
              <a:rPr lang="en-US" dirty="0" smtClean="0"/>
              <a:t>!</a:t>
            </a:r>
            <a:endParaRPr lang="th-TH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 Rewriting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00200"/>
            <a:ext cx="8229600" cy="4925144"/>
          </a:xfrm>
        </p:spPr>
        <p:txBody>
          <a:bodyPr>
            <a:normAutofit/>
          </a:bodyPr>
          <a:lstStyle/>
          <a:p>
            <a:r>
              <a:rPr lang="en-US" dirty="0" smtClean="0"/>
              <a:t>If the browser doesn’t accept cookies, the session id is embedded (appended to?) each URL in the HTML response</a:t>
            </a:r>
          </a:p>
          <a:p>
            <a:r>
              <a:rPr lang="en-US" dirty="0" smtClean="0"/>
              <a:t>When the rewritten URL is accessed, the server extracts the embedded session id</a:t>
            </a:r>
          </a:p>
          <a:p>
            <a:r>
              <a:rPr lang="en-US" dirty="0" smtClean="0"/>
              <a:t>Negatives of this technique:</a:t>
            </a:r>
          </a:p>
          <a:p>
            <a:pPr lvl="1"/>
            <a:r>
              <a:rPr lang="en-US" dirty="0" smtClean="0"/>
              <a:t>Each URL in the HTML response must embed session is with </a:t>
            </a:r>
            <a:r>
              <a:rPr lang="en-US" dirty="0" err="1" smtClean="0"/>
              <a:t>HttpServletResponse.encodeURL</a:t>
            </a:r>
            <a:r>
              <a:rPr lang="en-US" dirty="0" smtClean="0"/>
              <a:t>()</a:t>
            </a:r>
          </a:p>
          <a:p>
            <a:pPr lvl="2">
              <a:buNone/>
            </a:pPr>
            <a:r>
              <a:rPr lang="en-US" dirty="0" err="1" smtClean="0"/>
              <a:t>response.encodeURL</a:t>
            </a:r>
            <a:r>
              <a:rPr lang="en-US" dirty="0" smtClean="0"/>
              <a:t>(“/example5.Show”);</a:t>
            </a:r>
            <a:endParaRPr lang="th-TH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URL Rewriting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sz="2800" dirty="0" smtClean="0"/>
              <a:t>http://server:port/servlet/Rewritten </a:t>
            </a:r>
            <a:endParaRPr lang="en-US" sz="2800" dirty="0" smtClean="0"/>
          </a:p>
          <a:p>
            <a:pPr lvl="1"/>
            <a:r>
              <a:rPr lang="en-US" sz="2400" i="1" dirty="0" smtClean="0"/>
              <a:t>original</a:t>
            </a:r>
            <a:r>
              <a:rPr lang="en-US" sz="2400" dirty="0" smtClean="0"/>
              <a:t> </a:t>
            </a:r>
            <a:endParaRPr lang="en-US" sz="2400" dirty="0" smtClean="0"/>
          </a:p>
          <a:p>
            <a:r>
              <a:rPr lang="en-US" sz="2800" dirty="0" smtClean="0"/>
              <a:t>http://server:port/servlet/Rewritten/123 </a:t>
            </a:r>
          </a:p>
          <a:p>
            <a:pPr lvl="1"/>
            <a:r>
              <a:rPr lang="en-US" sz="2400" i="1" dirty="0" smtClean="0"/>
              <a:t>extra </a:t>
            </a:r>
            <a:r>
              <a:rPr lang="en-US" sz="2400" i="1" dirty="0" smtClean="0"/>
              <a:t>path information</a:t>
            </a:r>
            <a:r>
              <a:rPr lang="en-US" sz="2400" dirty="0" smtClean="0"/>
              <a:t> </a:t>
            </a:r>
          </a:p>
          <a:p>
            <a:r>
              <a:rPr lang="en-US" sz="2800" dirty="0" smtClean="0"/>
              <a:t>http://server:port/servlet/Rewritten?sessionid=123 </a:t>
            </a:r>
            <a:endParaRPr lang="en-US" sz="2800" dirty="0" smtClean="0"/>
          </a:p>
          <a:p>
            <a:pPr lvl="1"/>
            <a:r>
              <a:rPr lang="en-US" sz="2400" i="1" dirty="0" smtClean="0"/>
              <a:t>added </a:t>
            </a:r>
            <a:r>
              <a:rPr lang="en-US" sz="2400" i="1" dirty="0" smtClean="0"/>
              <a:t>parameter</a:t>
            </a:r>
            <a:r>
              <a:rPr lang="en-US" sz="2400" dirty="0" smtClean="0"/>
              <a:t> </a:t>
            </a:r>
          </a:p>
          <a:p>
            <a:r>
              <a:rPr lang="en-US" sz="2800" dirty="0" smtClean="0"/>
              <a:t>http://server:port/servlet/Rewritten;$sessionid$123 </a:t>
            </a:r>
            <a:endParaRPr lang="en-US" sz="2800" dirty="0" smtClean="0"/>
          </a:p>
          <a:p>
            <a:pPr lvl="1"/>
            <a:r>
              <a:rPr lang="en-US" sz="2400" i="1" dirty="0" smtClean="0"/>
              <a:t>custom </a:t>
            </a:r>
            <a:r>
              <a:rPr lang="en-US" sz="2400" i="1" dirty="0" smtClean="0"/>
              <a:t>change</a:t>
            </a:r>
            <a:endParaRPr lang="th-TH" sz="2400" dirty="0" smtClean="0"/>
          </a:p>
          <a:p>
            <a:endParaRPr lang="th-TH" sz="2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 smtClean="0"/>
              <a:t>When to use hidden-fields, cookies, sessions?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/>
              <a:t>Login – sessions</a:t>
            </a:r>
          </a:p>
          <a:p>
            <a:pPr lvl="1"/>
            <a:r>
              <a:rPr lang="en-US" dirty="0" smtClean="0"/>
              <a:t>log out clear session</a:t>
            </a:r>
          </a:p>
          <a:p>
            <a:r>
              <a:rPr lang="en-US" dirty="0" smtClean="0"/>
              <a:t>Redirect - hidden-fields</a:t>
            </a:r>
          </a:p>
          <a:p>
            <a:r>
              <a:rPr lang="en-US" dirty="0" smtClean="0"/>
              <a:t>Shopping Cart - cookies (persistent)</a:t>
            </a:r>
          </a:p>
          <a:p>
            <a:pPr lvl="1"/>
            <a:r>
              <a:rPr lang="en-US" dirty="0" smtClean="0"/>
              <a:t>log out and login again</a:t>
            </a:r>
          </a:p>
          <a:p>
            <a:r>
              <a:rPr lang="en-US" dirty="0" smtClean="0"/>
              <a:t>Editing Records - hidden-fields</a:t>
            </a:r>
          </a:p>
          <a:p>
            <a:pPr lvl="1"/>
            <a:r>
              <a:rPr lang="en-US" dirty="0" smtClean="0"/>
              <a:t>back button</a:t>
            </a:r>
            <a:endParaRPr lang="th-TH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Hidden Fields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Maintain data correlated with a page</a:t>
            </a:r>
          </a:p>
          <a:p>
            <a:pPr lvl="1"/>
            <a:r>
              <a:rPr lang="en-US" dirty="0" smtClean="0"/>
              <a:t>They are embedded in the page</a:t>
            </a:r>
          </a:p>
          <a:p>
            <a:pPr lvl="1"/>
            <a:r>
              <a:rPr lang="en-US" dirty="0" smtClean="0"/>
              <a:t>Especially helpful with context changes with back button</a:t>
            </a:r>
          </a:p>
          <a:p>
            <a:r>
              <a:rPr lang="en-US" dirty="0" smtClean="0"/>
              <a:t>Not good for login or shopping cart</a:t>
            </a:r>
          </a:p>
          <a:p>
            <a:r>
              <a:rPr lang="en-US" dirty="0" smtClean="0"/>
              <a:t>Possibly for redirect</a:t>
            </a:r>
          </a:p>
          <a:p>
            <a:r>
              <a:rPr lang="en-US" dirty="0" smtClean="0"/>
              <a:t>Probably perfect for editing records</a:t>
            </a:r>
          </a:p>
          <a:p>
            <a:pPr lvl="1"/>
            <a:r>
              <a:rPr lang="en-US" dirty="0" smtClean="0"/>
              <a:t>Use it to store the internal ID of the record you’re editing</a:t>
            </a:r>
            <a:endParaRPr lang="th-TH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Sessions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Maintain data correlated with browser session</a:t>
            </a:r>
          </a:p>
          <a:p>
            <a:pPr lvl="1"/>
            <a:r>
              <a:rPr lang="en-US" dirty="0" smtClean="0"/>
              <a:t>Usually implemented using cookies that have a short lifetime – like not stored on the disk</a:t>
            </a:r>
          </a:p>
          <a:p>
            <a:r>
              <a:rPr lang="en-US" dirty="0" smtClean="0"/>
              <a:t>Transcends pages</a:t>
            </a:r>
          </a:p>
          <a:p>
            <a:r>
              <a:rPr lang="en-US" dirty="0" smtClean="0"/>
              <a:t>Good for login</a:t>
            </a:r>
          </a:p>
          <a:p>
            <a:pPr lvl="1"/>
            <a:r>
              <a:rPr lang="en-US" dirty="0" smtClean="0"/>
              <a:t>Especially for “typical” security requirement</a:t>
            </a:r>
          </a:p>
          <a:p>
            <a:pPr lvl="2"/>
            <a:r>
              <a:rPr lang="en-US" dirty="0" smtClean="0"/>
              <a:t>Close your browser or sit idle and you log in again</a:t>
            </a:r>
          </a:p>
          <a:p>
            <a:r>
              <a:rPr lang="en-US" dirty="0" smtClean="0"/>
              <a:t>Good for shopping cart</a:t>
            </a:r>
          </a:p>
          <a:p>
            <a:r>
              <a:rPr lang="en-US" dirty="0" smtClean="0"/>
              <a:t>Bad for editing records</a:t>
            </a:r>
            <a:endParaRPr lang="th-TH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Cookies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dirty="0" smtClean="0"/>
              <a:t>Maintain data correlated with the client machine</a:t>
            </a:r>
          </a:p>
          <a:p>
            <a:pPr lvl="1"/>
            <a:r>
              <a:rPr lang="en-US" dirty="0" smtClean="0"/>
              <a:t>Usually cookies have long lifetimes that span browser sessions</a:t>
            </a:r>
          </a:p>
          <a:p>
            <a:r>
              <a:rPr lang="en-US" dirty="0" smtClean="0"/>
              <a:t>Transcend browser sessions (and pages)</a:t>
            </a:r>
          </a:p>
          <a:p>
            <a:r>
              <a:rPr lang="en-US" dirty="0" smtClean="0"/>
              <a:t>Good for login</a:t>
            </a:r>
          </a:p>
          <a:p>
            <a:pPr lvl="1"/>
            <a:r>
              <a:rPr lang="en-US" dirty="0" smtClean="0"/>
              <a:t>If you want “remember me” function on machine</a:t>
            </a:r>
          </a:p>
          <a:p>
            <a:pPr lvl="1"/>
            <a:r>
              <a:rPr lang="en-US" dirty="0" smtClean="0"/>
              <a:t>Especially for storing hashed credentials</a:t>
            </a:r>
          </a:p>
          <a:p>
            <a:r>
              <a:rPr lang="en-US" dirty="0" smtClean="0"/>
              <a:t>Bad for editing records</a:t>
            </a:r>
            <a:endParaRPr lang="th-TH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smtClean="0"/>
              <a:t>Bibliography</a:t>
            </a:r>
            <a:endParaRPr lang="th-TH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smtClean="0">
                <a:hlinkClick r:id="rId3"/>
              </a:rPr>
              <a:t>http://cc-web.isri.cmu.edu/Panopto/Pages/Viewer/Default.aspx?id=8ab6a72e-7052-45dd-ae85-0b259de900a5</a:t>
            </a:r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2896</TotalTime>
  <Words>701</Words>
  <Application>Microsoft Office PowerPoint</Application>
  <PresentationFormat>On-screen Show (4:3)</PresentationFormat>
  <Paragraphs>116</Paragraphs>
  <Slides>16</Slides>
  <Notes>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7" baseType="lpstr">
      <vt:lpstr>Office Theme</vt:lpstr>
      <vt:lpstr>Java &amp; J2EE Lecture 16: Sessions</vt:lpstr>
      <vt:lpstr>Hidden Fields in HTML</vt:lpstr>
      <vt:lpstr>Things to Notice</vt:lpstr>
      <vt:lpstr>Cookie in the web context</vt:lpstr>
      <vt:lpstr>Cookies don’t always taste good</vt:lpstr>
      <vt:lpstr>Cookie Examples</vt:lpstr>
      <vt:lpstr>Sessions</vt:lpstr>
      <vt:lpstr>Access Controller</vt:lpstr>
      <vt:lpstr>What if the browser doesn’t accept cookies?</vt:lpstr>
      <vt:lpstr>URL Rewriting</vt:lpstr>
      <vt:lpstr>URL Rewriting</vt:lpstr>
      <vt:lpstr>When to use hidden-fields, cookies, sessions?</vt:lpstr>
      <vt:lpstr>Hidden Fields</vt:lpstr>
      <vt:lpstr>Sessions</vt:lpstr>
      <vt:lpstr>Cookies</vt:lpstr>
      <vt:lpstr>Bibliography</vt:lpstr>
    </vt:vector>
  </TitlesOfParts>
  <Company>Hewlett-Packard Company</Company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>Peratham</dc:creator>
  <cp:lastModifiedBy>Peratham</cp:lastModifiedBy>
  <cp:revision>624</cp:revision>
  <dcterms:created xsi:type="dcterms:W3CDTF">2011-12-20T05:43:53Z</dcterms:created>
  <dcterms:modified xsi:type="dcterms:W3CDTF">2012-04-25T18:45:35Z</dcterms:modified>
</cp:coreProperties>
</file>