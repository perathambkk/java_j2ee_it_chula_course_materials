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3" r:id="rId15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00" autoAdjust="0"/>
  </p:normalViewPr>
  <p:slideViewPr>
    <p:cSldViewPr>
      <p:cViewPr varScale="1">
        <p:scale>
          <a:sx n="41" d="100"/>
          <a:sy n="41" d="100"/>
        </p:scale>
        <p:origin x="-2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4B7D-38D6-43AA-8877-F50B9572719E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4A6BB-0F7D-4385-B260-9E7393E0BCB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Excel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</a:t>
            </a:fld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 connection 1 thread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</a:t>
            </a:fld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3</a:t>
            </a:fld>
            <a:endParaRPr 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A: as before</a:t>
            </a:r>
          </a:p>
          <a:p>
            <a:r>
              <a:rPr lang="en-US" dirty="0" smtClean="0"/>
              <a:t>B: 1 </a:t>
            </a:r>
            <a:r>
              <a:rPr lang="en-US" dirty="0" err="1" smtClean="0"/>
              <a:t>servlet</a:t>
            </a:r>
            <a:r>
              <a:rPr lang="en-US" baseline="0" dirty="0" smtClean="0"/>
              <a:t> instance all threads use it, what we will be talking about.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5</a:t>
            </a:fld>
            <a:endParaRPr 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allocate each thread to request and all thread go to </a:t>
            </a:r>
            <a:r>
              <a:rPr lang="en-US" dirty="0" err="1" smtClean="0"/>
              <a:t>servlet</a:t>
            </a:r>
            <a:r>
              <a:rPr lang="en-US" dirty="0" smtClean="0"/>
              <a:t> at the same time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7</a:t>
            </a:fld>
            <a:endParaRPr 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h-TH" dirty="0" smtClean="0"/>
              <a:t>ตามรูป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9</a:t>
            </a:fld>
            <a:endParaRPr 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dirty="0" smtClean="0"/>
              <a:t>ตามรูป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10</a:t>
            </a:fld>
            <a:endParaRPr 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maxThreads</a:t>
            </a:r>
            <a:r>
              <a:rPr lang="en-US" dirty="0" smtClean="0"/>
              <a:t>, </a:t>
            </a:r>
            <a:r>
              <a:rPr lang="en-US" dirty="0" err="1" smtClean="0"/>
              <a:t>minSpareThreads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11</a:t>
            </a:fld>
            <a:endParaRPr 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h-TH" dirty="0" smtClean="0"/>
              <a:t>ตัวอย่างโปรแกรมสมัครงาน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12</a:t>
            </a:fld>
            <a:endParaRPr 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h-TH" dirty="0" smtClean="0"/>
              <a:t>ดึงข้อมูลจาก </a:t>
            </a:r>
            <a:r>
              <a:rPr lang="en-US" dirty="0" smtClean="0"/>
              <a:t>object </a:t>
            </a:r>
            <a:r>
              <a:rPr lang="th-TH" smtClean="0"/>
              <a:t>เสมอ</a:t>
            </a:r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13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127-A3CF-46A3-B32F-53FCF31F7EBC}" type="datetimeFigureOut">
              <a:rPr lang="th-TH" smtClean="0"/>
              <a:pPr/>
              <a:t>19/04/55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c-web.isri.cmu.edu/Panopto/Pages/Viewer/Default.aspx?id=855789a6-82ee-4614-962e-724a62ca765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424936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Java &amp; J2EE</a:t>
            </a:r>
            <a:br>
              <a:rPr lang="en-US" dirty="0" smtClean="0"/>
            </a:br>
            <a:r>
              <a:rPr lang="en-US" dirty="0" smtClean="0"/>
              <a:t>Lecture 15: Threads for </a:t>
            </a:r>
            <a:r>
              <a:rPr lang="en-US" dirty="0" err="1" smtClean="0"/>
              <a:t>Servlets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3568" y="3886200"/>
            <a:ext cx="6400800" cy="1752600"/>
          </a:xfrm>
        </p:spPr>
        <p:txBody>
          <a:bodyPr/>
          <a:lstStyle/>
          <a:p>
            <a:r>
              <a:rPr lang="en-US" dirty="0" err="1" smtClean="0"/>
              <a:t>Peratham</a:t>
            </a:r>
            <a:r>
              <a:rPr lang="en-US" dirty="0" smtClean="0"/>
              <a:t> </a:t>
            </a:r>
            <a:r>
              <a:rPr lang="en-US" dirty="0" err="1" smtClean="0"/>
              <a:t>Wiriyathammabhu</a:t>
            </a:r>
            <a:r>
              <a:rPr lang="en-US" dirty="0" err="1"/>
              <a:t>m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a </a:t>
            </a:r>
            <a:r>
              <a:rPr lang="en-US" dirty="0" err="1" smtClean="0"/>
              <a:t>java.lang.</a:t>
            </a:r>
            <a:r>
              <a:rPr lang="en-US" dirty="0" err="1" smtClean="0">
                <a:solidFill>
                  <a:srgbClr val="FF0000"/>
                </a:solidFill>
              </a:rPr>
              <a:t>Thread</a:t>
            </a:r>
            <a:r>
              <a:rPr lang="en-US" dirty="0" smtClean="0"/>
              <a:t>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Threads are the little men that execute your Java code</a:t>
            </a:r>
          </a:p>
          <a:p>
            <a:r>
              <a:rPr lang="en-US" dirty="0" smtClean="0"/>
              <a:t>Use new Thread(r) to create the new thread</a:t>
            </a:r>
          </a:p>
          <a:p>
            <a:pPr lvl="1"/>
            <a:r>
              <a:rPr lang="en-US" dirty="0" smtClean="0"/>
              <a:t>Object r must implement </a:t>
            </a:r>
            <a:r>
              <a:rPr lang="en-US" dirty="0" err="1" smtClean="0"/>
              <a:t>Runnable</a:t>
            </a:r>
            <a:endParaRPr lang="en-US" dirty="0" smtClean="0"/>
          </a:p>
          <a:p>
            <a:r>
              <a:rPr lang="en-US" dirty="0" smtClean="0"/>
              <a:t>Use start() method on the thread to run it</a:t>
            </a:r>
          </a:p>
          <a:p>
            <a:pPr lvl="1"/>
            <a:r>
              <a:rPr lang="en-US" dirty="0" smtClean="0"/>
              <a:t>Thread starts in the object’s run() method</a:t>
            </a:r>
          </a:p>
          <a:p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1331640" y="4797152"/>
            <a:ext cx="7344816" cy="19389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While (true){</a:t>
            </a:r>
          </a:p>
          <a:p>
            <a:r>
              <a:rPr lang="en-US" sz="2000" dirty="0" smtClean="0"/>
              <a:t>	Socket </a:t>
            </a:r>
            <a:r>
              <a:rPr lang="en-US" sz="2000" dirty="0" err="1" smtClean="0"/>
              <a:t>newSock</a:t>
            </a:r>
            <a:r>
              <a:rPr lang="en-US" sz="2000" dirty="0" smtClean="0"/>
              <a:t> = </a:t>
            </a:r>
            <a:r>
              <a:rPr lang="en-US" sz="2000" dirty="0" err="1" smtClean="0"/>
              <a:t>serverSock.accept</a:t>
            </a:r>
            <a:r>
              <a:rPr lang="en-US" sz="2000" dirty="0" smtClean="0"/>
              <a:t>();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SimpleHttpServer</a:t>
            </a:r>
            <a:r>
              <a:rPr lang="en-US" sz="2000" dirty="0" smtClean="0"/>
              <a:t> server = new </a:t>
            </a:r>
            <a:r>
              <a:rPr lang="en-US" sz="2000" dirty="0" err="1" smtClean="0"/>
              <a:t>SimpleHttpServer</a:t>
            </a:r>
            <a:r>
              <a:rPr lang="en-US" sz="2000" dirty="0" smtClean="0"/>
              <a:t>(</a:t>
            </a:r>
            <a:r>
              <a:rPr lang="en-US" sz="2000" dirty="0" err="1" smtClean="0"/>
              <a:t>newSock</a:t>
            </a:r>
            <a:r>
              <a:rPr lang="en-US" sz="2000" dirty="0" smtClean="0"/>
              <a:t>);</a:t>
            </a:r>
          </a:p>
          <a:p>
            <a:r>
              <a:rPr lang="en-US" sz="2000" dirty="0" smtClean="0"/>
              <a:t>	Thread t = new Thread(server);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t.start</a:t>
            </a:r>
            <a:r>
              <a:rPr lang="en-US" sz="2000" dirty="0" smtClean="0"/>
              <a:t>();</a:t>
            </a:r>
          </a:p>
          <a:p>
            <a:r>
              <a:rPr lang="en-US" sz="2000" dirty="0" smtClean="0"/>
              <a:t>}</a:t>
            </a:r>
            <a:endParaRPr lang="th-TH" sz="2000" dirty="0"/>
          </a:p>
        </p:txBody>
      </p:sp>
      <p:pic>
        <p:nvPicPr>
          <p:cNvPr id="5" name="Picture 2" descr="C:\Program Files\Microsoft Office\MEDIA\CAGCAT10\j014948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5229200"/>
            <a:ext cx="707371" cy="7188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threads start in run()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00200"/>
            <a:ext cx="8229600" cy="4997152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SimpleHttpServer</a:t>
            </a:r>
            <a:r>
              <a:rPr lang="en-US" dirty="0" smtClean="0"/>
              <a:t> implements </a:t>
            </a:r>
            <a:r>
              <a:rPr lang="en-US" dirty="0" err="1" smtClean="0"/>
              <a:t>Runnable</a:t>
            </a: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	private Socket </a:t>
            </a:r>
            <a:r>
              <a:rPr lang="en-US" dirty="0" err="1" smtClean="0"/>
              <a:t>mySock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public </a:t>
            </a:r>
            <a:r>
              <a:rPr lang="en-US" dirty="0" err="1" smtClean="0"/>
              <a:t>SimpleHttpServer</a:t>
            </a:r>
            <a:r>
              <a:rPr lang="en-US" dirty="0" smtClean="0"/>
              <a:t>(Socket </a:t>
            </a:r>
            <a:r>
              <a:rPr lang="en-US" dirty="0" err="1" smtClean="0"/>
              <a:t>mySock</a:t>
            </a:r>
            <a:r>
              <a:rPr lang="en-US" dirty="0" smtClean="0"/>
              <a:t>){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this.mySock</a:t>
            </a:r>
            <a:r>
              <a:rPr lang="en-US" dirty="0" smtClean="0"/>
              <a:t> = </a:t>
            </a:r>
            <a:r>
              <a:rPr lang="en-US" dirty="0" err="1" smtClean="0"/>
              <a:t>mySock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smtClean="0"/>
              <a:t>	public void run(){</a:t>
            </a:r>
          </a:p>
          <a:p>
            <a:pPr>
              <a:buNone/>
            </a:pPr>
            <a:r>
              <a:rPr lang="en-US" dirty="0" smtClean="0"/>
              <a:t>		…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smtClean="0"/>
              <a:t>	…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th-TH" dirty="0"/>
          </a:p>
        </p:txBody>
      </p:sp>
      <p:pic>
        <p:nvPicPr>
          <p:cNvPr id="4" name="Picture 2" descr="C:\Program Files\Microsoft Office\MEDIA\CAGCAT10\j014948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509120"/>
            <a:ext cx="707371" cy="7188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Remember How Memory Works?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Each thread has its own local variables</a:t>
            </a:r>
          </a:p>
          <a:p>
            <a:pPr lvl="1"/>
            <a:r>
              <a:rPr lang="en-US" dirty="0" smtClean="0"/>
              <a:t>Primitive types are clearly not shared</a:t>
            </a:r>
          </a:p>
          <a:p>
            <a:pPr lvl="1"/>
            <a:r>
              <a:rPr lang="en-US" dirty="0" smtClean="0"/>
              <a:t>References to objects are not shared</a:t>
            </a:r>
          </a:p>
          <a:p>
            <a:pPr lvl="2"/>
            <a:r>
              <a:rPr lang="en-US" dirty="0" smtClean="0"/>
              <a:t>Objects may be shared</a:t>
            </a:r>
          </a:p>
          <a:p>
            <a:r>
              <a:rPr lang="en-US" dirty="0" smtClean="0"/>
              <a:t>Each object has its own instance variables</a:t>
            </a:r>
          </a:p>
          <a:p>
            <a:pPr lvl="1"/>
            <a:r>
              <a:rPr lang="en-US" dirty="0" smtClean="0"/>
              <a:t>Primitive types are clearly not shared</a:t>
            </a:r>
          </a:p>
          <a:p>
            <a:pPr lvl="1"/>
            <a:r>
              <a:rPr lang="en-US" dirty="0" smtClean="0"/>
              <a:t>References to objects are not shared</a:t>
            </a:r>
          </a:p>
          <a:p>
            <a:pPr lvl="2"/>
            <a:r>
              <a:rPr lang="en-US" dirty="0" smtClean="0"/>
              <a:t>Objects may be shared</a:t>
            </a:r>
          </a:p>
          <a:p>
            <a:r>
              <a:rPr lang="en-US" dirty="0" smtClean="0"/>
              <a:t>Sharing Example</a:t>
            </a:r>
          </a:p>
          <a:p>
            <a:pPr lvl="1"/>
            <a:r>
              <a:rPr lang="en-US" dirty="0" smtClean="0"/>
              <a:t>Two threads with local variables that reference the same object (the instance of a class) share that object</a:t>
            </a:r>
          </a:p>
          <a:p>
            <a:pPr lvl="2"/>
            <a:r>
              <a:rPr lang="en-US" dirty="0" smtClean="0"/>
              <a:t>But we should try to avoid that</a:t>
            </a:r>
            <a:endParaRPr lang="th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Threading Models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Since run() is an instance method, you either:</a:t>
            </a:r>
          </a:p>
          <a:p>
            <a:pPr lvl="1">
              <a:buNone/>
            </a:pPr>
            <a:r>
              <a:rPr lang="en-US" dirty="0" smtClean="0"/>
              <a:t>A: associate one thread per instance of your </a:t>
            </a:r>
            <a:r>
              <a:rPr lang="en-US" dirty="0" err="1" smtClean="0"/>
              <a:t>Runnable</a:t>
            </a:r>
            <a:endParaRPr lang="en-US" dirty="0" smtClean="0"/>
          </a:p>
          <a:p>
            <a:pPr lvl="2"/>
            <a:r>
              <a:rPr lang="en-US" dirty="0" smtClean="0"/>
              <a:t>E.g., the </a:t>
            </a:r>
            <a:r>
              <a:rPr lang="en-US" dirty="0" err="1" smtClean="0"/>
              <a:t>SimpleHttpServer</a:t>
            </a:r>
            <a:r>
              <a:rPr lang="en-US" dirty="0" smtClean="0"/>
              <a:t> example</a:t>
            </a:r>
          </a:p>
          <a:p>
            <a:pPr lvl="2"/>
            <a:r>
              <a:rPr lang="en-US" dirty="0" smtClean="0"/>
              <a:t>Instance variables (&amp; local </a:t>
            </a:r>
            <a:r>
              <a:rPr lang="en-US" dirty="0" err="1" smtClean="0"/>
              <a:t>vars</a:t>
            </a:r>
            <a:r>
              <a:rPr lang="en-US" dirty="0" smtClean="0"/>
              <a:t>): not shared, no sync</a:t>
            </a:r>
          </a:p>
          <a:p>
            <a:pPr lvl="2"/>
            <a:r>
              <a:rPr lang="en-US" dirty="0" smtClean="0"/>
              <a:t>Class variables: are shared, sync is required	</a:t>
            </a:r>
          </a:p>
          <a:p>
            <a:pPr lvl="1">
              <a:buNone/>
            </a:pPr>
            <a:r>
              <a:rPr lang="en-US" dirty="0" smtClean="0"/>
              <a:t>B: associate many threads per instance of </a:t>
            </a:r>
            <a:r>
              <a:rPr lang="en-US" dirty="0" err="1" smtClean="0"/>
              <a:t>Runnable</a:t>
            </a:r>
            <a:endParaRPr lang="en-US" dirty="0" smtClean="0"/>
          </a:p>
          <a:p>
            <a:pPr lvl="2"/>
            <a:r>
              <a:rPr lang="en-US" dirty="0" smtClean="0"/>
              <a:t>E.g., </a:t>
            </a:r>
            <a:r>
              <a:rPr lang="en-US" dirty="0" err="1" smtClean="0"/>
              <a:t>Servlets</a:t>
            </a:r>
            <a:endParaRPr lang="en-US" dirty="0" smtClean="0"/>
          </a:p>
          <a:p>
            <a:pPr lvl="2"/>
            <a:r>
              <a:rPr lang="en-US" dirty="0" smtClean="0"/>
              <a:t>Instance variables are shared, local variables are not</a:t>
            </a:r>
          </a:p>
          <a:p>
            <a:pPr lvl="2"/>
            <a:r>
              <a:rPr lang="en-US" dirty="0" smtClean="0"/>
              <a:t>Synchronization may be required for instance variables</a:t>
            </a:r>
          </a:p>
          <a:p>
            <a:pPr lvl="1">
              <a:buNone/>
            </a:pPr>
            <a:r>
              <a:rPr lang="en-US" dirty="0" smtClean="0"/>
              <a:t>Note: Always shared across threads are class variables, OS and DB resources (e.g., files, network, database)</a:t>
            </a:r>
            <a:endParaRPr lang="th-TH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Synchronization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synchronized statement can be used on any object (or on a method declaration)</a:t>
            </a:r>
          </a:p>
          <a:p>
            <a:pPr lvl="1"/>
            <a:r>
              <a:rPr lang="en-US" dirty="0" smtClean="0"/>
              <a:t>This means that only one thread at a time is allowed in a synchronized block or method for all blocks &amp; methods synchronized on the same instance of the class (or the class itself in the case of a class method)</a:t>
            </a:r>
            <a:endParaRPr lang="th-T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Concurrent Threads in a </a:t>
            </a:r>
            <a:r>
              <a:rPr lang="en-US" dirty="0" err="1" smtClean="0"/>
              <a:t>Servlet</a:t>
            </a:r>
            <a:r>
              <a:rPr lang="en-US" dirty="0" smtClean="0"/>
              <a:t> Container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827584" y="1844824"/>
            <a:ext cx="7560840" cy="4320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5940152" y="1988840"/>
            <a:ext cx="1296144" cy="39688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Your </a:t>
            </a:r>
            <a:r>
              <a:rPr lang="en-US" dirty="0" err="1" smtClean="0"/>
              <a:t>Servlet</a:t>
            </a:r>
            <a:endParaRPr lang="th-TH" dirty="0"/>
          </a:p>
        </p:txBody>
      </p:sp>
      <p:sp>
        <p:nvSpPr>
          <p:cNvPr id="6" name="TextBox 5"/>
          <p:cNvSpPr txBox="1"/>
          <p:nvPr/>
        </p:nvSpPr>
        <p:spPr>
          <a:xfrm>
            <a:off x="3707904" y="1412776"/>
            <a:ext cx="18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Web Server</a:t>
            </a:r>
            <a:endParaRPr lang="th-TH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1988840"/>
            <a:ext cx="1296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</a:t>
            </a:r>
            <a:endParaRPr lang="th-TH" dirty="0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>
            <a:off x="1763925" y="2250450"/>
            <a:ext cx="4104219" cy="38646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48530" y="2060848"/>
            <a:ext cx="1207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Thread</a:t>
            </a:r>
            <a:endParaRPr lang="th-TH" dirty="0"/>
          </a:p>
        </p:txBody>
      </p:sp>
      <p:sp>
        <p:nvSpPr>
          <p:cNvPr id="11" name="TextBox 10"/>
          <p:cNvSpPr txBox="1"/>
          <p:nvPr/>
        </p:nvSpPr>
        <p:spPr>
          <a:xfrm>
            <a:off x="467544" y="3172780"/>
            <a:ext cx="1296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th-TH" dirty="0"/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 flipV="1">
            <a:off x="1763925" y="3356992"/>
            <a:ext cx="4104219" cy="77398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59832" y="2996952"/>
            <a:ext cx="1207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Thread</a:t>
            </a:r>
            <a:endParaRPr lang="th-TH" dirty="0"/>
          </a:p>
        </p:txBody>
      </p:sp>
      <p:sp>
        <p:nvSpPr>
          <p:cNvPr id="17" name="TextBox 16"/>
          <p:cNvSpPr txBox="1"/>
          <p:nvPr/>
        </p:nvSpPr>
        <p:spPr>
          <a:xfrm>
            <a:off x="467544" y="4849996"/>
            <a:ext cx="1296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th-TH" dirty="0"/>
          </a:p>
        </p:txBody>
      </p:sp>
      <p:cxnSp>
        <p:nvCxnSpPr>
          <p:cNvPr id="18" name="Straight Arrow Connector 17"/>
          <p:cNvCxnSpPr>
            <a:stCxn id="17" idx="3"/>
          </p:cNvCxnSpPr>
          <p:nvPr/>
        </p:nvCxnSpPr>
        <p:spPr>
          <a:xfrm flipV="1">
            <a:off x="1763925" y="4437112"/>
            <a:ext cx="4176227" cy="67449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9832" y="4674168"/>
            <a:ext cx="1207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Thread</a:t>
            </a:r>
            <a:endParaRPr lang="th-T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Race Conditions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When a program may or may not execute correctly depending on how the threads are scheduled</a:t>
            </a:r>
          </a:p>
          <a:p>
            <a:pPr lvl="1"/>
            <a:r>
              <a:rPr lang="en-US" dirty="0" smtClean="0"/>
              <a:t>In other words, what you have when you do not correctly synchronize your code</a:t>
            </a:r>
          </a:p>
          <a:p>
            <a:pPr lvl="1"/>
            <a:r>
              <a:rPr lang="en-US" dirty="0" smtClean="0"/>
              <a:t>Happens when multiple threads access a shared resource</a:t>
            </a:r>
          </a:p>
          <a:p>
            <a:pPr lvl="2"/>
            <a:r>
              <a:rPr lang="en-US" dirty="0" smtClean="0"/>
              <a:t>Instance variables (of shared instances of a class)</a:t>
            </a:r>
          </a:p>
          <a:p>
            <a:pPr lvl="2"/>
            <a:r>
              <a:rPr lang="en-US" dirty="0" smtClean="0"/>
              <a:t>Class variables</a:t>
            </a:r>
          </a:p>
          <a:p>
            <a:pPr lvl="2"/>
            <a:r>
              <a:rPr lang="en-US" dirty="0" smtClean="0"/>
              <a:t>OS or DB resources (files, network, database)</a:t>
            </a:r>
          </a:p>
          <a:p>
            <a:pPr lvl="1"/>
            <a:r>
              <a:rPr lang="en-US" dirty="0" smtClean="0"/>
              <a:t>The state of your data can become something you didn’t expect and might not be able to predict</a:t>
            </a:r>
            <a:endParaRPr lang="th-T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Current Architecture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995936" y="2132856"/>
            <a:ext cx="3384376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  <a:endParaRPr lang="th-TH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7740352" y="3068960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Files</a:t>
            </a:r>
            <a:endParaRPr lang="th-TH" dirty="0"/>
          </a:p>
        </p:txBody>
      </p:sp>
      <p:sp>
        <p:nvSpPr>
          <p:cNvPr id="11" name="Rectangle 10"/>
          <p:cNvSpPr/>
          <p:nvPr/>
        </p:nvSpPr>
        <p:spPr>
          <a:xfrm>
            <a:off x="4283968" y="2348880"/>
            <a:ext cx="2736304" cy="20162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HTTP Server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611560" y="2204864"/>
            <a:ext cx="3672408" cy="2736304"/>
            <a:chOff x="827584" y="2132856"/>
            <a:chExt cx="4176464" cy="2808312"/>
          </a:xfrm>
        </p:grpSpPr>
        <p:sp>
          <p:nvSpPr>
            <p:cNvPr id="4" name="Rectangle 3"/>
            <p:cNvSpPr/>
            <p:nvPr/>
          </p:nvSpPr>
          <p:spPr>
            <a:xfrm>
              <a:off x="827584" y="2132856"/>
              <a:ext cx="2736304" cy="28083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r>
                <a:rPr lang="en-US" dirty="0" smtClean="0"/>
                <a:t>OS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59632" y="2420888"/>
              <a:ext cx="1800200" cy="1800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Browser</a:t>
              </a:r>
              <a:endParaRPr lang="th-TH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987824" y="2780928"/>
              <a:ext cx="20162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059832" y="3140968"/>
              <a:ext cx="19442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347864" y="2452826"/>
              <a:ext cx="16347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HTTP Request</a:t>
              </a:r>
              <a:endParaRPr lang="th-TH" sz="2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02979" y="2852936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HTML</a:t>
              </a:r>
              <a:endParaRPr lang="th-TH" sz="20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283968" y="4005064"/>
            <a:ext cx="2736304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JVM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52120" y="3284984"/>
            <a:ext cx="1368152" cy="720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Servlet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Engine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 flipH="1" flipV="1">
            <a:off x="6660232" y="3645024"/>
            <a:ext cx="1080120" cy="36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Magnetic Disk 28"/>
          <p:cNvSpPr/>
          <p:nvPr/>
        </p:nvSpPr>
        <p:spPr>
          <a:xfrm>
            <a:off x="7740352" y="4581128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.class Files</a:t>
            </a:r>
            <a:endParaRPr lang="th-TH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 flipH="1" flipV="1">
            <a:off x="6660232" y="3645024"/>
            <a:ext cx="1080120" cy="1548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76056" y="2348880"/>
            <a:ext cx="1263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Tomcat</a:t>
            </a:r>
            <a:endParaRPr lang="th-TH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Concurrent Threads in a </a:t>
            </a:r>
            <a:r>
              <a:rPr lang="en-US" dirty="0" err="1" smtClean="0"/>
              <a:t>Servlet</a:t>
            </a:r>
            <a:r>
              <a:rPr lang="en-US" dirty="0" smtClean="0"/>
              <a:t> Container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827584" y="1844824"/>
            <a:ext cx="7560840" cy="4320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5940152" y="1988840"/>
            <a:ext cx="1296144" cy="39688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Your </a:t>
            </a:r>
            <a:r>
              <a:rPr lang="en-US" dirty="0" err="1" smtClean="0"/>
              <a:t>Servlet</a:t>
            </a:r>
            <a:endParaRPr lang="th-TH" dirty="0"/>
          </a:p>
        </p:txBody>
      </p:sp>
      <p:sp>
        <p:nvSpPr>
          <p:cNvPr id="6" name="TextBox 5"/>
          <p:cNvSpPr txBox="1"/>
          <p:nvPr/>
        </p:nvSpPr>
        <p:spPr>
          <a:xfrm>
            <a:off x="3707904" y="1412776"/>
            <a:ext cx="18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Web Server</a:t>
            </a:r>
            <a:endParaRPr lang="th-TH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1988840"/>
            <a:ext cx="1296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</a:t>
            </a:r>
            <a:endParaRPr lang="th-TH" dirty="0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>
            <a:off x="1763925" y="2250450"/>
            <a:ext cx="4104219" cy="38646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48530" y="2060848"/>
            <a:ext cx="1207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Thread</a:t>
            </a:r>
            <a:endParaRPr lang="th-TH" dirty="0"/>
          </a:p>
        </p:txBody>
      </p:sp>
      <p:sp>
        <p:nvSpPr>
          <p:cNvPr id="11" name="TextBox 10"/>
          <p:cNvSpPr txBox="1"/>
          <p:nvPr/>
        </p:nvSpPr>
        <p:spPr>
          <a:xfrm>
            <a:off x="467544" y="3172780"/>
            <a:ext cx="1296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th-TH" dirty="0"/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 flipV="1">
            <a:off x="1763925" y="3356992"/>
            <a:ext cx="4104219" cy="77398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59832" y="2996952"/>
            <a:ext cx="1207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Thread</a:t>
            </a:r>
            <a:endParaRPr lang="th-TH" dirty="0"/>
          </a:p>
        </p:txBody>
      </p:sp>
      <p:sp>
        <p:nvSpPr>
          <p:cNvPr id="17" name="TextBox 16"/>
          <p:cNvSpPr txBox="1"/>
          <p:nvPr/>
        </p:nvSpPr>
        <p:spPr>
          <a:xfrm>
            <a:off x="467544" y="4849996"/>
            <a:ext cx="1296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th-TH" dirty="0"/>
          </a:p>
        </p:txBody>
      </p:sp>
      <p:cxnSp>
        <p:nvCxnSpPr>
          <p:cNvPr id="18" name="Straight Arrow Connector 17"/>
          <p:cNvCxnSpPr>
            <a:stCxn id="17" idx="3"/>
          </p:cNvCxnSpPr>
          <p:nvPr/>
        </p:nvCxnSpPr>
        <p:spPr>
          <a:xfrm flipV="1">
            <a:off x="1763925" y="4437112"/>
            <a:ext cx="4176227" cy="67449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9832" y="4674168"/>
            <a:ext cx="1207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Thread</a:t>
            </a:r>
            <a:endParaRPr lang="th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Coyote Connector (in Tomcat)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Manages HTTP connections from browsers</a:t>
            </a:r>
          </a:p>
          <a:p>
            <a:r>
              <a:rPr lang="en-US" dirty="0" smtClean="0"/>
              <a:t>Maintains a pool threads</a:t>
            </a:r>
          </a:p>
          <a:p>
            <a:pPr lvl="1"/>
            <a:r>
              <a:rPr lang="en-US" dirty="0" smtClean="0"/>
              <a:t>When a request comes in, it dispatches a thread to process the request</a:t>
            </a:r>
          </a:p>
          <a:p>
            <a:r>
              <a:rPr lang="en-US" dirty="0" smtClean="0"/>
              <a:t>Configured in conf/server.xml</a:t>
            </a:r>
          </a:p>
          <a:p>
            <a:pPr lvl="1"/>
            <a:r>
              <a:rPr lang="en-US" dirty="0" smtClean="0"/>
              <a:t>Specifies number of concurrent threads </a:t>
            </a:r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4802376"/>
            <a:ext cx="7488832" cy="16312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ym typeface="Wingdings" pitchFamily="2" charset="2"/>
              </a:rPr>
              <a:t>&lt;!-- </a:t>
            </a:r>
            <a:r>
              <a:rPr lang="en-US" sz="2000" dirty="0" smtClean="0"/>
              <a:t>Define a non-SSL HTTP/1.1 Connector on port 8080--&gt;</a:t>
            </a:r>
          </a:p>
          <a:p>
            <a:r>
              <a:rPr lang="en-US" sz="2000" dirty="0" smtClean="0"/>
              <a:t>    &lt;Connector port="8080" protocol="HTTP/1.1" </a:t>
            </a:r>
          </a:p>
          <a:p>
            <a:r>
              <a:rPr lang="en-US" sz="2000" dirty="0" smtClean="0"/>
              <a:t>               </a:t>
            </a:r>
            <a:r>
              <a:rPr lang="en-US" sz="2000" dirty="0" err="1" smtClean="0"/>
              <a:t>connectionTimeout</a:t>
            </a:r>
            <a:r>
              <a:rPr lang="en-US" sz="2000" dirty="0" smtClean="0"/>
              <a:t>="20000" </a:t>
            </a:r>
          </a:p>
          <a:p>
            <a:r>
              <a:rPr lang="en-US" sz="2000" dirty="0" smtClean="0"/>
              <a:t>               </a:t>
            </a:r>
            <a:r>
              <a:rPr lang="en-US" sz="2000" dirty="0" err="1" smtClean="0"/>
              <a:t>redirectPort</a:t>
            </a:r>
            <a:r>
              <a:rPr lang="en-US" sz="2000" dirty="0" smtClean="0"/>
              <a:t>="8443" /&gt;</a:t>
            </a:r>
          </a:p>
          <a:p>
            <a:r>
              <a:rPr lang="en-US" sz="2000" dirty="0" smtClean="0"/>
              <a:t>    &lt;!-- A "Connector" using the shared thread pool--&gt;</a:t>
            </a:r>
            <a:endParaRPr lang="th-TH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App: Application Form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Form submit with 2 or 3 or more people at the same time?</a:t>
            </a:r>
          </a:p>
          <a:p>
            <a:r>
              <a:rPr lang="en-US" dirty="0" smtClean="0"/>
              <a:t>How many people have submitted so far?</a:t>
            </a:r>
          </a:p>
          <a:p>
            <a:r>
              <a:rPr lang="en-US" smtClean="0"/>
              <a:t>Hassles</a:t>
            </a:r>
            <a:r>
              <a:rPr lang="en-US" dirty="0" smtClean="0"/>
              <a:t>: e.g., </a:t>
            </a:r>
            <a:r>
              <a:rPr lang="en-US" dirty="0" err="1" smtClean="0"/>
              <a:t>list.size</a:t>
            </a:r>
            <a:r>
              <a:rPr lang="en-US" dirty="0" smtClean="0"/>
              <a:t>() not consistent</a:t>
            </a:r>
          </a:p>
          <a:p>
            <a:pPr lvl="1"/>
            <a:r>
              <a:rPr lang="en-US" dirty="0" smtClean="0"/>
              <a:t>list of 15 people with 28 entries!!?</a:t>
            </a:r>
          </a:p>
          <a:p>
            <a:pPr lvl="1"/>
            <a:r>
              <a:rPr lang="en-US" dirty="0" smtClean="0"/>
              <a:t>(check for embedded HTML)</a:t>
            </a:r>
          </a:p>
          <a:p>
            <a:r>
              <a:rPr lang="en-US" dirty="0" smtClean="0"/>
              <a:t>Use: Synchronization for DAO</a:t>
            </a:r>
          </a:p>
          <a:p>
            <a:pPr lvl="1"/>
            <a:r>
              <a:rPr lang="en-US" dirty="0" smtClean="0"/>
              <a:t>synchronize all methods in DAO</a:t>
            </a:r>
          </a:p>
          <a:p>
            <a:pPr lvl="1"/>
            <a:r>
              <a:rPr lang="en-US" dirty="0" smtClean="0"/>
              <a:t>use synchronized (){…}</a:t>
            </a:r>
            <a:endParaRPr lang="th-T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Notice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Servlet</a:t>
            </a:r>
            <a:r>
              <a:rPr lang="en-US" dirty="0" smtClean="0"/>
              <a:t> handles the “</a:t>
            </a:r>
            <a:r>
              <a:rPr lang="en-US" dirty="0" err="1" smtClean="0"/>
              <a:t>webapp</a:t>
            </a:r>
            <a:r>
              <a:rPr lang="en-US" dirty="0" smtClean="0"/>
              <a:t>” related tasks</a:t>
            </a:r>
          </a:p>
          <a:p>
            <a:r>
              <a:rPr lang="en-US" dirty="0" smtClean="0"/>
              <a:t>All the “data” is managed by the DAO</a:t>
            </a:r>
          </a:p>
          <a:p>
            <a:pPr lvl="1"/>
            <a:r>
              <a:rPr lang="en-US" dirty="0" smtClean="0"/>
              <a:t>DAO: Data Access Object</a:t>
            </a:r>
          </a:p>
          <a:p>
            <a:pPr lvl="1"/>
            <a:r>
              <a:rPr lang="en-US" dirty="0" smtClean="0"/>
              <a:t>A class that encapsulates all the data management</a:t>
            </a:r>
          </a:p>
          <a:p>
            <a:pPr lvl="2"/>
            <a:r>
              <a:rPr lang="en-US" dirty="0" smtClean="0"/>
              <a:t>Disk,…</a:t>
            </a:r>
          </a:p>
          <a:p>
            <a:pPr lvl="1"/>
            <a:r>
              <a:rPr lang="en-US" dirty="0" smtClean="0"/>
              <a:t>Keeps all the database issues out of the “</a:t>
            </a:r>
            <a:r>
              <a:rPr lang="en-US" dirty="0" err="1" smtClean="0"/>
              <a:t>webapp</a:t>
            </a:r>
            <a:r>
              <a:rPr lang="en-US" dirty="0" smtClean="0"/>
              <a:t>”</a:t>
            </a:r>
          </a:p>
          <a:p>
            <a:pPr lvl="2"/>
            <a:r>
              <a:rPr lang="en-US" dirty="0" smtClean="0"/>
              <a:t>You can use the DAO for other </a:t>
            </a:r>
            <a:r>
              <a:rPr lang="en-US" dirty="0" err="1" smtClean="0"/>
              <a:t>webapps</a:t>
            </a:r>
            <a:endParaRPr lang="en-US" dirty="0" smtClean="0"/>
          </a:p>
          <a:p>
            <a:pPr lvl="2"/>
            <a:r>
              <a:rPr lang="en-US" dirty="0" smtClean="0"/>
              <a:t>You can use the DAO for other non-</a:t>
            </a:r>
            <a:r>
              <a:rPr lang="en-US" dirty="0" err="1" smtClean="0"/>
              <a:t>webapps</a:t>
            </a:r>
            <a:endParaRPr lang="th-T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Bibliography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http://cc-web.isri.cmu.edu/Panopto/Pages/Viewer/Default.aspx?id=855789a6-82ee-4614-962e-724a62ca7650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</TotalTime>
  <Words>667</Words>
  <Application>Microsoft Office PowerPoint</Application>
  <PresentationFormat>On-screen Show (4:3)</PresentationFormat>
  <Paragraphs>153</Paragraphs>
  <Slides>14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Java &amp; J2EE Lecture 15: Threads for Servlets</vt:lpstr>
      <vt:lpstr>What’s a java.lang.Thread?</vt:lpstr>
      <vt:lpstr>Additional threads start in run()</vt:lpstr>
      <vt:lpstr>Remember How Memory Works?</vt:lpstr>
      <vt:lpstr>Threading Models</vt:lpstr>
      <vt:lpstr>Synchronization</vt:lpstr>
      <vt:lpstr>Concurrent Threads in a Servlet Container</vt:lpstr>
      <vt:lpstr>Race Conditions</vt:lpstr>
      <vt:lpstr>The Current Architecture</vt:lpstr>
      <vt:lpstr>Concurrent Threads in a Servlet Container</vt:lpstr>
      <vt:lpstr>Coyote Connector (in Tomcat)</vt:lpstr>
      <vt:lpstr>App: Application Form</vt:lpstr>
      <vt:lpstr>Things to Notice</vt:lpstr>
      <vt:lpstr>Bibliography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Peratham</dc:creator>
  <cp:lastModifiedBy>Peratham</cp:lastModifiedBy>
  <cp:revision>630</cp:revision>
  <dcterms:created xsi:type="dcterms:W3CDTF">2011-12-20T05:43:53Z</dcterms:created>
  <dcterms:modified xsi:type="dcterms:W3CDTF">2012-04-18T18:07:17Z</dcterms:modified>
</cp:coreProperties>
</file>