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4" r:id="rId3"/>
    <p:sldId id="265" r:id="rId4"/>
    <p:sldId id="267" r:id="rId5"/>
    <p:sldId id="266" r:id="rId6"/>
    <p:sldId id="269" r:id="rId7"/>
    <p:sldId id="268" r:id="rId8"/>
    <p:sldId id="270" r:id="rId9"/>
    <p:sldId id="271" r:id="rId10"/>
    <p:sldId id="272" r:id="rId11"/>
    <p:sldId id="274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9" r:id="rId27"/>
    <p:sldId id="290" r:id="rId28"/>
    <p:sldId id="263" r:id="rId29"/>
    <p:sldId id="288" r:id="rId30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00" autoAdjust="0"/>
  </p:normalViewPr>
  <p:slideViewPr>
    <p:cSldViewPr>
      <p:cViewPr varScale="1">
        <p:scale>
          <a:sx n="41" d="100"/>
          <a:sy n="41" d="100"/>
        </p:scale>
        <p:origin x="-2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L14Tomcat/HelloWorld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Java </a:t>
            </a:r>
            <a:r>
              <a:rPr lang="th-TH" dirty="0" smtClean="0"/>
              <a:t>ในที่รูดบัตร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java.c</a:t>
            </a:r>
            <a:r>
              <a:rPr lang="en-US" dirty="0" smtClean="0"/>
              <a:t> load JVM, JVM find </a:t>
            </a:r>
            <a:r>
              <a:rPr lang="en-US" dirty="0" err="1" smtClean="0"/>
              <a:t>classfile</a:t>
            </a:r>
            <a:r>
              <a:rPr lang="en-US" dirty="0" smtClean="0"/>
              <a:t> and load to memory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3</a:t>
            </a:fld>
            <a:endParaRPr 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same</a:t>
            </a:r>
            <a:r>
              <a:rPr lang="en-US" baseline="0" dirty="0" smtClean="0"/>
              <a:t> as in DOS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4</a:t>
            </a:fld>
            <a:endParaRPr 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claimed</a:t>
            </a:r>
            <a:r>
              <a:rPr lang="en-US" baseline="0" dirty="0" smtClean="0"/>
              <a:t> to be important since it runs in a browser</a:t>
            </a:r>
          </a:p>
          <a:p>
            <a:r>
              <a:rPr lang="en-US" baseline="0" dirty="0" smtClean="0"/>
              <a:t>HTML has applet tag tell browser to run .class for applet</a:t>
            </a:r>
          </a:p>
          <a:p>
            <a:r>
              <a:rPr lang="en-US" baseline="0" dirty="0" smtClean="0"/>
              <a:t>take long time to load and run(with hw of that age)</a:t>
            </a:r>
          </a:p>
          <a:p>
            <a:r>
              <a:rPr lang="en-US" baseline="0" dirty="0" smtClean="0"/>
              <a:t>Browser JVMs have to compatible with applet code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5</a:t>
            </a:fld>
            <a:endParaRPr 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 server figure out what piece of java code to run when receive</a:t>
            </a:r>
            <a:r>
              <a:rPr lang="en-US" baseline="0" dirty="0" smtClean="0"/>
              <a:t> HTTP request</a:t>
            </a:r>
          </a:p>
          <a:p>
            <a:r>
              <a:rPr lang="en-US" baseline="0" dirty="0" err="1" smtClean="0"/>
              <a:t>Servlet</a:t>
            </a:r>
            <a:r>
              <a:rPr lang="en-US" baseline="0" dirty="0" smtClean="0"/>
              <a:t> Engine runs that code and sends the answer back in HTML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6</a:t>
            </a:fld>
            <a:endParaRPr 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Browsers can run junky HTML :D Besides, we have HTML headers to tell the version name to the browsers</a:t>
            </a:r>
          </a:p>
          <a:p>
            <a:r>
              <a:rPr lang="en-US" dirty="0" smtClean="0"/>
              <a:t>Compare with applet: secure b/c know JVM – login using applet?</a:t>
            </a:r>
          </a:p>
          <a:p>
            <a:r>
              <a:rPr lang="en-US" dirty="0" smtClean="0"/>
              <a:t>fast: better n/w latency e.g. database access 5 requests from user/</a:t>
            </a:r>
            <a:r>
              <a:rPr lang="en-US" dirty="0" err="1" smtClean="0"/>
              <a:t>servlet</a:t>
            </a:r>
            <a:r>
              <a:rPr lang="en-US" dirty="0" smtClean="0"/>
              <a:t> engine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7</a:t>
            </a:fld>
            <a:endParaRPr 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9</a:t>
            </a:fld>
            <a:endParaRPr 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10</a:t>
            </a:fld>
            <a:endParaRPr 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11</a:t>
            </a:fld>
            <a:endParaRPr 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javax</a:t>
            </a:r>
            <a:r>
              <a:rPr lang="en-US" dirty="0" smtClean="0"/>
              <a:t> = java extension -&gt; in Tomcat (servlet-api.jar) not JDK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14</a:t>
            </a:fld>
            <a:endParaRPr 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but nobody uses these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15</a:t>
            </a:fld>
            <a:endParaRPr 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inspect request and generate the response</a:t>
            </a:r>
          </a:p>
          <a:p>
            <a:r>
              <a:rPr lang="en-US" dirty="0" smtClean="0"/>
              <a:t>default </a:t>
            </a:r>
            <a:r>
              <a:rPr lang="en-US" dirty="0" err="1" smtClean="0"/>
              <a:t>doGet</a:t>
            </a:r>
            <a:r>
              <a:rPr lang="en-US" dirty="0" smtClean="0"/>
              <a:t> 404 no such method</a:t>
            </a:r>
          </a:p>
          <a:p>
            <a:r>
              <a:rPr lang="en-US" dirty="0" smtClean="0"/>
              <a:t>Use Get and Post a lot (may be only things we use)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16</a:t>
            </a:fld>
            <a:endParaRPr 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Eclipse -&gt; new </a:t>
            </a:r>
            <a:r>
              <a:rPr lang="en-US" dirty="0" err="1" smtClean="0"/>
              <a:t>Servlet</a:t>
            </a:r>
            <a:r>
              <a:rPr lang="en-US" dirty="0" smtClean="0"/>
              <a:t> -&gt; </a:t>
            </a:r>
            <a:r>
              <a:rPr lang="en-US" dirty="0" smtClean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127.0.0.1:8080/L14Tomcat/HelloWorld</a:t>
            </a:r>
            <a:endParaRPr lang="en-US" dirty="0" smtClean="0"/>
          </a:p>
          <a:p>
            <a:r>
              <a:rPr lang="en-US" dirty="0" smtClean="0"/>
              <a:t>view source</a:t>
            </a:r>
          </a:p>
          <a:p>
            <a:r>
              <a:rPr lang="en-US" dirty="0" smtClean="0"/>
              <a:t>content type: </a:t>
            </a:r>
            <a:r>
              <a:rPr lang="en-US" dirty="0" err="1" smtClean="0"/>
              <a:t>img</a:t>
            </a:r>
            <a:r>
              <a:rPr lang="en-US" dirty="0" smtClean="0"/>
              <a:t>/gif,</a:t>
            </a:r>
            <a:r>
              <a:rPr lang="en-US" baseline="0" dirty="0" smtClean="0"/>
              <a:t> text/plain,…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17</a:t>
            </a:fld>
            <a:endParaRPr 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folder named “ROOT”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18</a:t>
            </a:fld>
            <a:endParaRPr 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 can do everything</a:t>
            </a:r>
            <a:r>
              <a:rPr lang="en-US" baseline="0" dirty="0" smtClean="0"/>
              <a:t> you want b/c it’s a java code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19</a:t>
            </a:fld>
            <a:endParaRPr 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</a:t>
            </a:r>
            <a:r>
              <a:rPr lang="en-US" dirty="0" err="1" smtClean="0"/>
              <a:t>HelloX</a:t>
            </a:r>
            <a:r>
              <a:rPr lang="en-US" dirty="0" smtClean="0"/>
              <a:t> -&gt; </a:t>
            </a:r>
            <a:r>
              <a:rPr lang="en-US" dirty="0" err="1" smtClean="0"/>
              <a:t>HelloX?name</a:t>
            </a:r>
            <a:r>
              <a:rPr lang="en-US" dirty="0" smtClean="0"/>
              <a:t>=</a:t>
            </a:r>
          </a:p>
          <a:p>
            <a:r>
              <a:rPr lang="en-US" dirty="0" err="1" smtClean="0"/>
              <a:t>IsPowerOfTwo</a:t>
            </a:r>
            <a:r>
              <a:rPr lang="en-US" dirty="0" smtClean="0"/>
              <a:t> -&gt; input a cat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22</a:t>
            </a:fld>
            <a:endParaRPr 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complex but for enterprise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26</a:t>
            </a:fld>
            <a:endParaRPr lang="th-T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Browsers can run junky HTML :D Besides, we have HTML headers to tell the version name to the browsers</a:t>
            </a:r>
          </a:p>
          <a:p>
            <a:r>
              <a:rPr lang="en-US" dirty="0" smtClean="0"/>
              <a:t>Compare with applet: secure b/c know JVM – login using applet?</a:t>
            </a:r>
          </a:p>
          <a:p>
            <a:r>
              <a:rPr lang="en-US" dirty="0" smtClean="0"/>
              <a:t>fast: better n/w latency e.g. database access 5 requests from user/</a:t>
            </a:r>
            <a:r>
              <a:rPr lang="en-US" dirty="0" err="1" smtClean="0"/>
              <a:t>servlet</a:t>
            </a:r>
            <a:r>
              <a:rPr lang="en-US" dirty="0" smtClean="0"/>
              <a:t> engine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27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04/04/55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tomcat.apach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**********.ac.th/L14Tomcat/HelloWorld" TargetMode="External"/><Relationship Id="rId5" Type="http://schemas.openxmlformats.org/officeDocument/2006/relationships/hyperlink" Target="http://localhost:8080/HelloWorld" TargetMode="External"/><Relationship Id="rId4" Type="http://schemas.openxmlformats.org/officeDocument/2006/relationships/hyperlink" Target="http://localhost:8080/ServletIntro/HelloWorl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cc-web.isri.cmu.edu/Panopto/Pages/Viewer/Default.aspx?id=4175ae32-94b3-4def-a7b7-c46eab2f9126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dirty="0" smtClean="0"/>
              <a:t>Lecture 14: </a:t>
            </a:r>
            <a:r>
              <a:rPr lang="en-US" dirty="0" err="1" smtClean="0"/>
              <a:t>Servlet</a:t>
            </a:r>
            <a:r>
              <a:rPr lang="en-US" dirty="0" smtClean="0"/>
              <a:t> &amp; Tomcat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Runtime Environments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 in Command Line</a:t>
            </a:r>
          </a:p>
          <a:p>
            <a:r>
              <a:rPr lang="en-US" dirty="0" smtClean="0"/>
              <a:t>Java in IDE (e.g. Eclipse)</a:t>
            </a:r>
          </a:p>
          <a:p>
            <a:r>
              <a:rPr lang="en-US" dirty="0" smtClean="0"/>
              <a:t>Java in Web Browsers</a:t>
            </a:r>
          </a:p>
          <a:p>
            <a:pPr lvl="1"/>
            <a:r>
              <a:rPr lang="en-US" dirty="0" smtClean="0"/>
              <a:t>Applets</a:t>
            </a:r>
          </a:p>
          <a:p>
            <a:r>
              <a:rPr lang="en-US" dirty="0" smtClean="0"/>
              <a:t>Java in Web Servers</a:t>
            </a:r>
          </a:p>
          <a:p>
            <a:pPr lvl="1"/>
            <a:r>
              <a:rPr lang="en-US" dirty="0" err="1" smtClean="0"/>
              <a:t>Servlets</a:t>
            </a:r>
            <a:endParaRPr lang="en-US" dirty="0" smtClean="0"/>
          </a:p>
          <a:p>
            <a:r>
              <a:rPr lang="en-US" dirty="0" smtClean="0"/>
              <a:t>Java in Appliances and Smart Cards</a:t>
            </a:r>
          </a:p>
          <a:p>
            <a:pPr lvl="1">
              <a:buNone/>
            </a:pP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in DOS Window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java </a:t>
            </a:r>
            <a:r>
              <a:rPr lang="en-US" dirty="0" err="1" smtClean="0"/>
              <a:t>HelloWorld</a:t>
            </a:r>
            <a:endParaRPr lang="th-TH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43808" y="2348880"/>
          <a:ext cx="3744416" cy="373084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44416"/>
              </a:tblGrid>
              <a:tr h="644174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th-TH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HelloWorld.class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JVM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java.c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Flowchart: Magnetic Disk 5"/>
          <p:cNvSpPr/>
          <p:nvPr/>
        </p:nvSpPr>
        <p:spPr>
          <a:xfrm>
            <a:off x="7380312" y="4869160"/>
            <a:ext cx="1224136" cy="100811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HelloWorld.class</a:t>
            </a:r>
            <a:endParaRPr lang="th-TH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93096"/>
            <a:ext cx="1863949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4005064"/>
            <a:ext cx="707371" cy="718890"/>
          </a:xfrm>
          <a:prstGeom prst="rect">
            <a:avLst/>
          </a:prstGeom>
          <a:noFill/>
        </p:spPr>
      </p:pic>
      <p:cxnSp>
        <p:nvCxnSpPr>
          <p:cNvPr id="10" name="Straight Arrow Connector 9"/>
          <p:cNvCxnSpPr>
            <a:endCxn id="1026" idx="3"/>
          </p:cNvCxnSpPr>
          <p:nvPr/>
        </p:nvCxnSpPr>
        <p:spPr>
          <a:xfrm flipH="1" flipV="1">
            <a:off x="2115469" y="4761148"/>
            <a:ext cx="1736452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347865" y="4509120"/>
            <a:ext cx="2736303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652120" y="4581128"/>
            <a:ext cx="504056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</p:cNvCxnSpPr>
          <p:nvPr/>
        </p:nvCxnSpPr>
        <p:spPr>
          <a:xfrm flipH="1" flipV="1">
            <a:off x="5436096" y="5085184"/>
            <a:ext cx="194421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005064"/>
            <a:ext cx="158738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in an IDE</a:t>
            </a:r>
            <a:endParaRPr lang="th-TH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43808" y="2348880"/>
          <a:ext cx="3744416" cy="373084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44416"/>
              </a:tblGrid>
              <a:tr h="644174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th-TH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HelloWorld.class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JVM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441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Eclipse</a:t>
                      </a:r>
                      <a:endParaRPr lang="th-T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Flowchart: Magnetic Disk 5"/>
          <p:cNvSpPr/>
          <p:nvPr/>
        </p:nvSpPr>
        <p:spPr>
          <a:xfrm>
            <a:off x="7380312" y="4869160"/>
            <a:ext cx="1224136" cy="100811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HelloWorld.class</a:t>
            </a:r>
            <a:endParaRPr lang="th-TH" sz="1600" dirty="0"/>
          </a:p>
        </p:txBody>
      </p:sp>
      <p:pic>
        <p:nvPicPr>
          <p:cNvPr id="8" name="Picture 2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4005064"/>
            <a:ext cx="707371" cy="718890"/>
          </a:xfrm>
          <a:prstGeom prst="rect">
            <a:avLst/>
          </a:prstGeom>
          <a:noFill/>
        </p:spPr>
      </p:pic>
      <p:cxnSp>
        <p:nvCxnSpPr>
          <p:cNvPr id="10" name="Straight Arrow Connector 9"/>
          <p:cNvCxnSpPr/>
          <p:nvPr/>
        </p:nvCxnSpPr>
        <p:spPr>
          <a:xfrm flipH="1">
            <a:off x="1907704" y="5085184"/>
            <a:ext cx="1944217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347865" y="4509120"/>
            <a:ext cx="2736303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652120" y="4581128"/>
            <a:ext cx="504056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</p:cNvCxnSpPr>
          <p:nvPr/>
        </p:nvCxnSpPr>
        <p:spPr>
          <a:xfrm flipH="1" flipV="1">
            <a:off x="5436096" y="5085184"/>
            <a:ext cx="194421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in an Applet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827584" y="2132856"/>
            <a:ext cx="2736304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4008" y="2132856"/>
            <a:ext cx="2736304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740352" y="3068960"/>
            <a:ext cx="914400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cxnSp>
        <p:nvCxnSpPr>
          <p:cNvPr id="8" name="Straight Connector 7"/>
          <p:cNvCxnSpPr>
            <a:stCxn id="6" idx="2"/>
            <a:endCxn id="5" idx="3"/>
          </p:cNvCxnSpPr>
          <p:nvPr/>
        </p:nvCxnSpPr>
        <p:spPr>
          <a:xfrm flipH="1" flipV="1">
            <a:off x="7380312" y="3537012"/>
            <a:ext cx="36004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59632" y="2420888"/>
            <a:ext cx="1800200" cy="1800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Browser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04048" y="2348880"/>
            <a:ext cx="201622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HTTP Server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59632" y="3573016"/>
            <a:ext cx="1080120" cy="6480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987824" y="2780928"/>
            <a:ext cx="20162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987824" y="3573016"/>
            <a:ext cx="20162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059832" y="3140968"/>
            <a:ext cx="194421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3059832" y="4068688"/>
            <a:ext cx="1944216" cy="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47864" y="2452826"/>
            <a:ext cx="1634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HTTP Request</a:t>
            </a:r>
            <a:endParaRPr lang="th-TH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3297297" y="3244914"/>
            <a:ext cx="1634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HTTP Request</a:t>
            </a:r>
            <a:endParaRPr lang="th-TH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3702979" y="285293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HTML</a:t>
            </a:r>
            <a:endParaRPr lang="th-TH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2825381" y="3748970"/>
            <a:ext cx="2610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HelloWorldApplet.class</a:t>
            </a:r>
            <a:endParaRPr lang="th-TH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in </a:t>
            </a:r>
            <a:r>
              <a:rPr lang="en-US" dirty="0" err="1" smtClean="0"/>
              <a:t>Servlets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995936" y="2132856"/>
            <a:ext cx="3384376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740352" y="3068960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4283968" y="2348880"/>
            <a:ext cx="273630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HTTP Server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11560" y="2204864"/>
            <a:ext cx="3672408" cy="2736304"/>
            <a:chOff x="827584" y="2132856"/>
            <a:chExt cx="4176464" cy="2808312"/>
          </a:xfrm>
        </p:grpSpPr>
        <p:sp>
          <p:nvSpPr>
            <p:cNvPr id="4" name="Rectangle 3"/>
            <p:cNvSpPr/>
            <p:nvPr/>
          </p:nvSpPr>
          <p:spPr>
            <a:xfrm>
              <a:off x="827584" y="2132856"/>
              <a:ext cx="2736304" cy="28083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r>
                <a:rPr lang="en-US" dirty="0" smtClean="0"/>
                <a:t>OS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59632" y="2420888"/>
              <a:ext cx="1800200" cy="1800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Browser</a:t>
              </a:r>
              <a:endParaRPr lang="th-TH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987824" y="2780928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059832" y="3140968"/>
              <a:ext cx="194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347864" y="2452826"/>
              <a:ext cx="1634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HTTP Request</a:t>
              </a:r>
              <a:endParaRPr lang="th-TH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02979" y="2852936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HTML</a:t>
              </a:r>
              <a:endParaRPr lang="th-TH" sz="20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283968" y="4005064"/>
            <a:ext cx="273630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52120" y="3284984"/>
            <a:ext cx="1368152" cy="720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Servlet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Engine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 flipH="1" flipV="1">
            <a:off x="6660232" y="3645024"/>
            <a:ext cx="1080120" cy="36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/>
          <p:cNvSpPr/>
          <p:nvPr/>
        </p:nvSpPr>
        <p:spPr>
          <a:xfrm>
            <a:off x="7740352" y="458112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.class Files</a:t>
            </a:r>
            <a:endParaRPr lang="th-TH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 flipH="1" flipV="1">
            <a:off x="6660232" y="3645024"/>
            <a:ext cx="1080120" cy="1548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Server-side Java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Java version mismatch</a:t>
            </a:r>
          </a:p>
          <a:p>
            <a:pPr lvl="1"/>
            <a:r>
              <a:rPr lang="en-US" dirty="0" smtClean="0"/>
              <a:t>Just generate HTML</a:t>
            </a:r>
          </a:p>
          <a:p>
            <a:pPr lvl="2"/>
            <a:r>
              <a:rPr lang="en-US" dirty="0" smtClean="0"/>
              <a:t>HTML mismatch is an easier problem – Why?</a:t>
            </a:r>
          </a:p>
          <a:p>
            <a:r>
              <a:rPr lang="en-US" dirty="0" smtClean="0"/>
              <a:t>No long download problems</a:t>
            </a:r>
          </a:p>
          <a:p>
            <a:pPr lvl="1"/>
            <a:r>
              <a:rPr lang="en-US" dirty="0" smtClean="0"/>
              <a:t>Many “real” apps have many big .class files</a:t>
            </a:r>
          </a:p>
          <a:p>
            <a:r>
              <a:rPr lang="en-US" dirty="0" smtClean="0"/>
              <a:t>Right way to access server data</a:t>
            </a:r>
          </a:p>
          <a:p>
            <a:pPr lvl="1"/>
            <a:r>
              <a:rPr lang="en-US" dirty="0" smtClean="0"/>
              <a:t>Secure &amp; Fast</a:t>
            </a:r>
          </a:p>
          <a:p>
            <a:pPr lvl="2"/>
            <a:r>
              <a:rPr lang="en-US" dirty="0" smtClean="0"/>
              <a:t>Your program , running on your server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Tomcat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as a </a:t>
            </a:r>
            <a:r>
              <a:rPr lang="en-US" dirty="0" err="1" smtClean="0"/>
              <a:t>Servlet</a:t>
            </a:r>
            <a:r>
              <a:rPr lang="en-US" dirty="0" smtClean="0"/>
              <a:t> Container</a:t>
            </a:r>
          </a:p>
          <a:p>
            <a:pPr lvl="1"/>
            <a:r>
              <a:rPr lang="en-US" dirty="0" smtClean="0"/>
              <a:t>Info, docs, and downloads on </a:t>
            </a:r>
            <a:r>
              <a:rPr lang="en-US" dirty="0" smtClean="0">
                <a:hlinkClick r:id="rId2"/>
              </a:rPr>
              <a:t>http://tomcat.apache.org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Install by Eclipse/Core Windows Service Installer</a:t>
            </a:r>
          </a:p>
          <a:p>
            <a:r>
              <a:rPr lang="en-US" dirty="0" smtClean="0"/>
              <a:t>Install Java first</a:t>
            </a:r>
          </a:p>
          <a:p>
            <a:r>
              <a:rPr lang="en-US" dirty="0" smtClean="0"/>
              <a:t>You can run Tomcat as a Windows service</a:t>
            </a:r>
          </a:p>
          <a:p>
            <a:r>
              <a:rPr lang="en-US" dirty="0" smtClean="0"/>
              <a:t>By default, running on port 8080 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Goal is Dynamic Content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995936" y="2132856"/>
            <a:ext cx="3384376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740352" y="3068960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4283968" y="2348880"/>
            <a:ext cx="273630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HTTP Server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611560" y="2204864"/>
            <a:ext cx="3672408" cy="2736304"/>
            <a:chOff x="827584" y="2132856"/>
            <a:chExt cx="4176464" cy="2808312"/>
          </a:xfrm>
        </p:grpSpPr>
        <p:sp>
          <p:nvSpPr>
            <p:cNvPr id="4" name="Rectangle 3"/>
            <p:cNvSpPr/>
            <p:nvPr/>
          </p:nvSpPr>
          <p:spPr>
            <a:xfrm>
              <a:off x="827584" y="2132856"/>
              <a:ext cx="2736304" cy="28083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r>
                <a:rPr lang="en-US" dirty="0" smtClean="0"/>
                <a:t>OS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59632" y="2420888"/>
              <a:ext cx="1800200" cy="1800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Browser</a:t>
              </a:r>
              <a:endParaRPr lang="th-TH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987824" y="2780928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059832" y="3140968"/>
              <a:ext cx="194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347864" y="2452826"/>
              <a:ext cx="1634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HTTP Request</a:t>
              </a:r>
              <a:endParaRPr lang="th-TH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02979" y="2852936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HTML</a:t>
              </a:r>
              <a:endParaRPr lang="th-TH" sz="20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283968" y="4005064"/>
            <a:ext cx="273630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52120" y="3284984"/>
            <a:ext cx="1368152" cy="720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Servlet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Engine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 flipH="1" flipV="1">
            <a:off x="6660232" y="3645024"/>
            <a:ext cx="1080120" cy="36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/>
          <p:cNvSpPr/>
          <p:nvPr/>
        </p:nvSpPr>
        <p:spPr>
          <a:xfrm>
            <a:off x="7740352" y="458112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.class Files</a:t>
            </a:r>
            <a:endParaRPr lang="th-TH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 flipH="1" flipV="1">
            <a:off x="6660232" y="3645024"/>
            <a:ext cx="1080120" cy="1548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HTTP Server as a Front End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995936" y="2204864"/>
            <a:ext cx="4464496" cy="2736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884368" y="530120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4283968" y="2348880"/>
            <a:ext cx="273630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611560" y="2204864"/>
            <a:ext cx="3672408" cy="2736304"/>
            <a:chOff x="827584" y="2132856"/>
            <a:chExt cx="4176464" cy="2808312"/>
          </a:xfrm>
        </p:grpSpPr>
        <p:sp>
          <p:nvSpPr>
            <p:cNvPr id="4" name="Rectangle 3"/>
            <p:cNvSpPr/>
            <p:nvPr/>
          </p:nvSpPr>
          <p:spPr>
            <a:xfrm>
              <a:off x="827584" y="2132856"/>
              <a:ext cx="2736304" cy="28083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r>
                <a:rPr lang="en-US" dirty="0" smtClean="0"/>
                <a:t>OS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59632" y="2420888"/>
              <a:ext cx="1800200" cy="1800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Browser</a:t>
              </a:r>
              <a:endParaRPr lang="th-TH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987824" y="2780928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059832" y="3140968"/>
              <a:ext cx="194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347864" y="2452826"/>
              <a:ext cx="1634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HTTP Request</a:t>
              </a:r>
              <a:endParaRPr lang="th-TH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02979" y="2852936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HTML</a:t>
              </a:r>
              <a:endParaRPr lang="th-TH" sz="20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7092280" y="4005064"/>
            <a:ext cx="1368152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92280" y="2780928"/>
            <a:ext cx="1368152" cy="12241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Tomcat</a:t>
            </a:r>
          </a:p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Servlet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Engine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1"/>
            <a:endCxn id="23" idx="2"/>
          </p:cNvCxnSpPr>
          <p:nvPr/>
        </p:nvCxnSpPr>
        <p:spPr>
          <a:xfrm flipH="1" flipV="1">
            <a:off x="7776356" y="4293096"/>
            <a:ext cx="612068" cy="1008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/>
          <p:cNvSpPr/>
          <p:nvPr/>
        </p:nvSpPr>
        <p:spPr>
          <a:xfrm>
            <a:off x="6516216" y="530120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.class Files</a:t>
            </a:r>
            <a:endParaRPr lang="th-TH" dirty="0"/>
          </a:p>
        </p:txBody>
      </p:sp>
      <p:cxnSp>
        <p:nvCxnSpPr>
          <p:cNvPr id="30" name="Straight Connector 29"/>
          <p:cNvCxnSpPr>
            <a:stCxn id="29" idx="1"/>
            <a:endCxn id="23" idx="2"/>
          </p:cNvCxnSpPr>
          <p:nvPr/>
        </p:nvCxnSpPr>
        <p:spPr>
          <a:xfrm flipV="1">
            <a:off x="7020272" y="4293096"/>
            <a:ext cx="756084" cy="1008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8574" y="2852936"/>
            <a:ext cx="18821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Apache </a:t>
            </a:r>
          </a:p>
          <a:p>
            <a:pPr algn="ctr"/>
            <a:r>
              <a:rPr lang="en-US" dirty="0" err="1" smtClean="0"/>
              <a:t>HTTPServer</a:t>
            </a:r>
            <a:endParaRPr lang="th-TH" dirty="0"/>
          </a:p>
        </p:txBody>
      </p:sp>
      <p:sp>
        <p:nvSpPr>
          <p:cNvPr id="33" name="Arc 32"/>
          <p:cNvSpPr/>
          <p:nvPr/>
        </p:nvSpPr>
        <p:spPr>
          <a:xfrm>
            <a:off x="6300192" y="2492896"/>
            <a:ext cx="1368152" cy="576064"/>
          </a:xfrm>
          <a:prstGeom prst="arc">
            <a:avLst>
              <a:gd name="adj1" fmla="val 15771782"/>
              <a:gd name="adj2" fmla="val 17043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AJP</a:t>
            </a:r>
            <a:endParaRPr lang="th-TH" sz="1800" dirty="0"/>
          </a:p>
        </p:txBody>
      </p:sp>
      <p:sp>
        <p:nvSpPr>
          <p:cNvPr id="34" name="TextBox 33"/>
          <p:cNvSpPr txBox="1"/>
          <p:nvPr/>
        </p:nvSpPr>
        <p:spPr>
          <a:xfrm>
            <a:off x="827584" y="5373216"/>
            <a:ext cx="41958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For other Apache features </a:t>
            </a:r>
          </a:p>
          <a:p>
            <a:r>
              <a:rPr lang="en-US" dirty="0" smtClean="0"/>
              <a:t>and  </a:t>
            </a:r>
            <a:r>
              <a:rPr lang="en-US" dirty="0" err="1" smtClean="0"/>
              <a:t>envs</a:t>
            </a:r>
            <a:r>
              <a:rPr lang="en-US" dirty="0" smtClean="0"/>
              <a:t> (Perl, PHP,…)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Configuration We will be Using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995936" y="2132856"/>
            <a:ext cx="3384376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OS</a:t>
            </a:r>
            <a:endParaRPr lang="th-TH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7740352" y="3068960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Files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4283968" y="2348880"/>
            <a:ext cx="2736304" cy="20162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HTTP Server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611560" y="2204864"/>
            <a:ext cx="3672408" cy="2736304"/>
            <a:chOff x="827584" y="2132856"/>
            <a:chExt cx="4176464" cy="2808312"/>
          </a:xfrm>
        </p:grpSpPr>
        <p:sp>
          <p:nvSpPr>
            <p:cNvPr id="4" name="Rectangle 3"/>
            <p:cNvSpPr/>
            <p:nvPr/>
          </p:nvSpPr>
          <p:spPr>
            <a:xfrm>
              <a:off x="827584" y="2132856"/>
              <a:ext cx="2736304" cy="28083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r>
                <a:rPr lang="en-US" dirty="0" smtClean="0"/>
                <a:t>OS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59632" y="2420888"/>
              <a:ext cx="1800200" cy="1800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Browser</a:t>
              </a:r>
              <a:endParaRPr lang="th-TH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987824" y="2780928"/>
              <a:ext cx="20162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059832" y="3140968"/>
              <a:ext cx="194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347864" y="2452826"/>
              <a:ext cx="16347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HTTP Request</a:t>
              </a:r>
              <a:endParaRPr lang="th-TH" sz="2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702979" y="2852936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HTML</a:t>
              </a:r>
              <a:endParaRPr lang="th-TH" sz="20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283968" y="4005064"/>
            <a:ext cx="2736304" cy="360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JVM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52120" y="3284984"/>
            <a:ext cx="1368152" cy="720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Servlet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Engine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 flipH="1" flipV="1">
            <a:off x="6660232" y="3645024"/>
            <a:ext cx="1080120" cy="36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/>
          <p:cNvSpPr/>
          <p:nvPr/>
        </p:nvSpPr>
        <p:spPr>
          <a:xfrm>
            <a:off x="7740352" y="4581128"/>
            <a:ext cx="1008112" cy="122413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.class Files</a:t>
            </a:r>
            <a:endParaRPr lang="th-TH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 flipH="1" flipV="1">
            <a:off x="6660232" y="3645024"/>
            <a:ext cx="1080120" cy="1548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76056" y="2348880"/>
            <a:ext cx="1263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Tomcat</a:t>
            </a:r>
            <a:endParaRPr lang="th-TH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Tomcat Server Structure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same loop as any HTTP Server</a:t>
            </a:r>
          </a:p>
          <a:p>
            <a:pPr lvl="1">
              <a:buNone/>
            </a:pPr>
            <a:r>
              <a:rPr lang="en-US" dirty="0" smtClean="0"/>
              <a:t>	while(true){</a:t>
            </a:r>
          </a:p>
          <a:p>
            <a:pPr lvl="1">
              <a:buNone/>
            </a:pPr>
            <a:r>
              <a:rPr lang="en-US" dirty="0" smtClean="0"/>
              <a:t>			request = </a:t>
            </a:r>
            <a:r>
              <a:rPr lang="en-US" dirty="0" err="1" smtClean="0"/>
              <a:t>readHttpRequest</a:t>
            </a:r>
            <a:r>
              <a:rPr lang="en-US" dirty="0" smtClean="0"/>
              <a:t>(…);	</a:t>
            </a:r>
          </a:p>
          <a:p>
            <a:pPr lvl="1">
              <a:buNone/>
            </a:pPr>
            <a:r>
              <a:rPr lang="en-US" dirty="0" smtClean="0"/>
              <a:t>			response = </a:t>
            </a:r>
            <a:r>
              <a:rPr lang="en-US" dirty="0" err="1" smtClean="0"/>
              <a:t>processHttpRequest</a:t>
            </a:r>
            <a:r>
              <a:rPr lang="en-US" dirty="0" smtClean="0"/>
              <a:t>(request);</a:t>
            </a:r>
          </a:p>
          <a:p>
            <a:pPr lvl="1">
              <a:buNone/>
            </a:pPr>
            <a:r>
              <a:rPr lang="en-US" dirty="0" smtClean="0"/>
              <a:t>			</a:t>
            </a:r>
            <a:r>
              <a:rPr lang="en-US" dirty="0" err="1" smtClean="0"/>
              <a:t>sendHttpResponse</a:t>
            </a:r>
            <a:r>
              <a:rPr lang="en-US" dirty="0" smtClean="0"/>
              <a:t>(…,response);</a:t>
            </a:r>
          </a:p>
          <a:p>
            <a:pPr lvl="1">
              <a:buNone/>
            </a:pPr>
            <a:r>
              <a:rPr lang="en-US" dirty="0" smtClean="0"/>
              <a:t>	}</a:t>
            </a:r>
          </a:p>
          <a:p>
            <a:r>
              <a:rPr lang="en-US" dirty="0" smtClean="0"/>
              <a:t>Request is an object that contains all the info about the HTTP Request</a:t>
            </a:r>
          </a:p>
          <a:p>
            <a:r>
              <a:rPr lang="en-US" dirty="0" smtClean="0"/>
              <a:t>Response is an object containing info needed to send the HTTP Response</a:t>
            </a:r>
            <a:endParaRPr lang="th-T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Processing the Request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processHttpRequest</a:t>
            </a:r>
            <a:r>
              <a:rPr lang="en-US" dirty="0" smtClean="0"/>
              <a:t>() does a lot of work</a:t>
            </a:r>
          </a:p>
          <a:p>
            <a:pPr lvl="1"/>
            <a:r>
              <a:rPr lang="en-US" dirty="0" smtClean="0"/>
              <a:t>Determine the correct </a:t>
            </a:r>
            <a:r>
              <a:rPr lang="en-US" dirty="0" err="1" smtClean="0"/>
              <a:t>Servlet</a:t>
            </a:r>
            <a:endParaRPr lang="en-US" dirty="0" smtClean="0"/>
          </a:p>
          <a:p>
            <a:pPr lvl="1"/>
            <a:r>
              <a:rPr lang="en-US" dirty="0" smtClean="0"/>
              <a:t>Load &amp; initialize it if necessary</a:t>
            </a:r>
          </a:p>
          <a:p>
            <a:pPr lvl="1"/>
            <a:r>
              <a:rPr lang="en-US" dirty="0" smtClean="0"/>
              <a:t>Invoke the </a:t>
            </a:r>
            <a:r>
              <a:rPr lang="en-US" dirty="0" err="1" smtClean="0"/>
              <a:t>Servlet</a:t>
            </a:r>
            <a:r>
              <a:rPr lang="en-US" dirty="0" smtClean="0"/>
              <a:t>, passing the request and response objects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servlet</a:t>
            </a:r>
            <a:r>
              <a:rPr lang="en-US" dirty="0" smtClean="0"/>
              <a:t> processes any form input data, looks at cookies, etc, and generates a response (typically HTML)</a:t>
            </a:r>
            <a:endParaRPr lang="th-T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 err="1" smtClean="0"/>
              <a:t>Servlet</a:t>
            </a:r>
            <a:r>
              <a:rPr lang="en-US" dirty="0" smtClean="0"/>
              <a:t> Packages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javax.servlet</a:t>
            </a:r>
            <a:endParaRPr lang="en-US" dirty="0" smtClean="0"/>
          </a:p>
          <a:p>
            <a:r>
              <a:rPr lang="en-US" dirty="0" err="1" smtClean="0"/>
              <a:t>javax.servlet.http</a:t>
            </a:r>
            <a:endParaRPr lang="en-US" dirty="0" smtClean="0"/>
          </a:p>
          <a:p>
            <a:r>
              <a:rPr lang="en-US" dirty="0" smtClean="0"/>
              <a:t>These packages are not in the JDK or the JRE</a:t>
            </a:r>
          </a:p>
          <a:p>
            <a:r>
              <a:rPr lang="en-US" dirty="0" smtClean="0"/>
              <a:t>They are in</a:t>
            </a:r>
          </a:p>
          <a:p>
            <a:pPr lvl="2">
              <a:buNone/>
            </a:pPr>
            <a:r>
              <a:rPr lang="en-US" dirty="0" smtClean="0"/>
              <a:t>%CATALINA_ROOT%\lib\servlet-api.jar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Interface: </a:t>
            </a:r>
            <a:r>
              <a:rPr lang="en-US" dirty="0" err="1" smtClean="0"/>
              <a:t>javax.servlet.Servlet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Implemented by </a:t>
            </a:r>
            <a:r>
              <a:rPr lang="en-US" dirty="0" err="1" smtClean="0"/>
              <a:t>javax.servlet.GenericServlet</a:t>
            </a:r>
            <a:endParaRPr lang="en-US" dirty="0" smtClean="0"/>
          </a:p>
          <a:p>
            <a:pPr lvl="1"/>
            <a:r>
              <a:rPr lang="en-US" b="1" dirty="0" smtClean="0"/>
              <a:t>init(</a:t>
            </a:r>
            <a:r>
              <a:rPr lang="en-US" b="1" dirty="0" err="1" smtClean="0"/>
              <a:t>ServletConfig</a:t>
            </a:r>
            <a:r>
              <a:rPr lang="en-US" b="1" dirty="0" smtClean="0"/>
              <a:t>)</a:t>
            </a:r>
          </a:p>
          <a:p>
            <a:pPr lvl="2"/>
            <a:r>
              <a:rPr lang="en-US" dirty="0" smtClean="0"/>
              <a:t>Initializes the </a:t>
            </a:r>
            <a:r>
              <a:rPr lang="en-US" dirty="0" err="1" smtClean="0"/>
              <a:t>servlet</a:t>
            </a:r>
            <a:endParaRPr lang="en-US" dirty="0" smtClean="0"/>
          </a:p>
          <a:p>
            <a:pPr lvl="1"/>
            <a:r>
              <a:rPr lang="en-US" b="1" dirty="0" smtClean="0"/>
              <a:t>service(</a:t>
            </a:r>
            <a:r>
              <a:rPr lang="en-US" b="1" dirty="0" err="1" smtClean="0"/>
              <a:t>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ServletResponse</a:t>
            </a:r>
            <a:r>
              <a:rPr lang="en-US" b="1" dirty="0" smtClean="0"/>
              <a:t>)</a:t>
            </a:r>
          </a:p>
          <a:p>
            <a:pPr lvl="2"/>
            <a:r>
              <a:rPr lang="en-US" dirty="0" smtClean="0"/>
              <a:t>Carries out a single request from the client</a:t>
            </a:r>
          </a:p>
          <a:p>
            <a:pPr lvl="1"/>
            <a:r>
              <a:rPr lang="en-US" b="1" dirty="0" smtClean="0"/>
              <a:t>destroy()</a:t>
            </a:r>
          </a:p>
          <a:p>
            <a:pPr lvl="2"/>
            <a:r>
              <a:rPr lang="en-US" dirty="0" smtClean="0"/>
              <a:t>Lets you clean up resources(file handles, DB connections, etc)</a:t>
            </a:r>
          </a:p>
          <a:p>
            <a:pPr lvl="1"/>
            <a:r>
              <a:rPr lang="en-US" b="1" dirty="0" err="1" smtClean="0"/>
              <a:t>getServletConfig</a:t>
            </a:r>
            <a:r>
              <a:rPr lang="en-US" b="1" dirty="0" smtClean="0"/>
              <a:t>()</a:t>
            </a:r>
          </a:p>
          <a:p>
            <a:pPr lvl="2"/>
            <a:r>
              <a:rPr lang="en-US" dirty="0" smtClean="0"/>
              <a:t>Returns a </a:t>
            </a:r>
            <a:r>
              <a:rPr lang="en-US" dirty="0" err="1" smtClean="0"/>
              <a:t>servlet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object, which contains any initialization parameters and startup configuration for this </a:t>
            </a:r>
            <a:r>
              <a:rPr lang="en-US" dirty="0" err="1" smtClean="0"/>
              <a:t>servlet</a:t>
            </a:r>
            <a:endParaRPr lang="en-US" dirty="0" smtClean="0"/>
          </a:p>
          <a:p>
            <a:pPr lvl="1"/>
            <a:r>
              <a:rPr lang="en-US" b="1" dirty="0" err="1" smtClean="0"/>
              <a:t>getServletInfo</a:t>
            </a:r>
            <a:r>
              <a:rPr lang="en-US" b="1" dirty="0" smtClean="0"/>
              <a:t>()</a:t>
            </a:r>
          </a:p>
          <a:p>
            <a:pPr lvl="2"/>
            <a:r>
              <a:rPr lang="en-US" dirty="0" smtClean="0"/>
              <a:t>Returns a string containing information about the </a:t>
            </a:r>
            <a:r>
              <a:rPr lang="en-US" dirty="0" err="1" smtClean="0"/>
              <a:t>servlet</a:t>
            </a:r>
            <a:endParaRPr lang="th-TH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Class: </a:t>
            </a:r>
            <a:r>
              <a:rPr lang="en-US" dirty="0" err="1" smtClean="0"/>
              <a:t>javax.sevlet.http.HttpServlet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This is the one you’ll be using</a:t>
            </a:r>
          </a:p>
          <a:p>
            <a:r>
              <a:rPr lang="en-US" dirty="0" smtClean="0"/>
              <a:t>It’s a subclass of </a:t>
            </a:r>
            <a:r>
              <a:rPr lang="en-US" dirty="0" err="1" smtClean="0"/>
              <a:t>GenericServlet</a:t>
            </a:r>
            <a:endParaRPr lang="en-US" dirty="0" smtClean="0"/>
          </a:p>
          <a:p>
            <a:r>
              <a:rPr lang="en-US" dirty="0" smtClean="0"/>
              <a:t>You extend </a:t>
            </a:r>
            <a:r>
              <a:rPr lang="en-US" dirty="0" err="1" smtClean="0"/>
              <a:t>HttpServlet</a:t>
            </a:r>
            <a:endParaRPr lang="en-US" dirty="0" smtClean="0"/>
          </a:p>
          <a:p>
            <a:r>
              <a:rPr lang="en-US" dirty="0" err="1" smtClean="0"/>
              <a:t>HttpServlet</a:t>
            </a:r>
            <a:r>
              <a:rPr lang="en-US" dirty="0" smtClean="0"/>
              <a:t> has “do” methods for each HTTP method</a:t>
            </a:r>
          </a:p>
          <a:p>
            <a:r>
              <a:rPr lang="en-US" dirty="0" smtClean="0"/>
              <a:t>Override the methods you want to implement: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b="1" dirty="0" err="1" smtClean="0"/>
              <a:t>doDelete</a:t>
            </a:r>
            <a:r>
              <a:rPr lang="en-US" b="1" dirty="0" smtClean="0"/>
              <a:t>(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doGet</a:t>
            </a:r>
            <a:r>
              <a:rPr lang="en-US" b="1" dirty="0" smtClean="0"/>
              <a:t>(       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doHead</a:t>
            </a:r>
            <a:r>
              <a:rPr lang="en-US" b="1" dirty="0" smtClean="0"/>
              <a:t>(    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doOptions</a:t>
            </a:r>
            <a:r>
              <a:rPr lang="en-US" b="1" dirty="0" smtClean="0"/>
              <a:t>(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doPost</a:t>
            </a:r>
            <a:r>
              <a:rPr lang="en-US" b="1" dirty="0" smtClean="0"/>
              <a:t>(      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doPut</a:t>
            </a:r>
            <a:r>
              <a:rPr lang="en-US" b="1" dirty="0" smtClean="0"/>
              <a:t>(        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doTrace</a:t>
            </a:r>
            <a:r>
              <a:rPr lang="en-US" b="1" dirty="0" smtClean="0"/>
              <a:t>(      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)</a:t>
            </a:r>
            <a:endParaRPr lang="th-TH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HelloWorld</a:t>
            </a:r>
            <a:r>
              <a:rPr lang="en-US" dirty="0" smtClean="0"/>
              <a:t> Example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import java.io.*;</a:t>
            </a:r>
          </a:p>
          <a:p>
            <a:pPr>
              <a:buNone/>
            </a:pPr>
            <a:r>
              <a:rPr lang="en-US" sz="1600" dirty="0" smtClean="0"/>
              <a:t>import </a:t>
            </a:r>
            <a:r>
              <a:rPr lang="en-US" sz="1600" dirty="0" err="1" smtClean="0"/>
              <a:t>javax.servlet</a:t>
            </a:r>
            <a:r>
              <a:rPr lang="en-US" sz="1600" dirty="0" smtClean="0"/>
              <a:t>.*;</a:t>
            </a:r>
          </a:p>
          <a:p>
            <a:pPr>
              <a:buNone/>
            </a:pPr>
            <a:r>
              <a:rPr lang="en-US" sz="1600" dirty="0" smtClean="0"/>
              <a:t>import </a:t>
            </a:r>
            <a:r>
              <a:rPr lang="en-US" sz="1600" dirty="0" err="1" smtClean="0"/>
              <a:t>javax.servlet.http</a:t>
            </a:r>
            <a:r>
              <a:rPr lang="en-US" sz="1600" dirty="0" smtClean="0"/>
              <a:t>.*;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public class </a:t>
            </a:r>
            <a:r>
              <a:rPr lang="en-US" sz="1600" dirty="0" err="1" smtClean="0"/>
              <a:t>HelloWorld</a:t>
            </a:r>
            <a:r>
              <a:rPr lang="en-US" sz="1600" dirty="0" smtClean="0"/>
              <a:t> extends </a:t>
            </a:r>
            <a:r>
              <a:rPr lang="en-US" sz="1600" dirty="0" err="1" smtClean="0"/>
              <a:t>HttpServlet</a:t>
            </a:r>
            <a:r>
              <a:rPr lang="en-US" sz="1600" dirty="0" smtClean="0"/>
              <a:t> {</a:t>
            </a:r>
          </a:p>
          <a:p>
            <a:pPr>
              <a:buNone/>
            </a:pPr>
            <a:r>
              <a:rPr lang="en-US" sz="1600" dirty="0" smtClean="0"/>
              <a:t>	 </a:t>
            </a:r>
            <a:r>
              <a:rPr lang="en-US" sz="1600" dirty="0" smtClean="0"/>
              <a:t>public </a:t>
            </a:r>
            <a:r>
              <a:rPr lang="en-US" sz="1600" dirty="0" smtClean="0"/>
              <a:t>void </a:t>
            </a:r>
            <a:r>
              <a:rPr lang="en-US" sz="1600" dirty="0" err="1" smtClean="0"/>
              <a:t>doGet</a:t>
            </a:r>
            <a:r>
              <a:rPr lang="en-US" sz="1600" dirty="0" smtClean="0"/>
              <a:t>(</a:t>
            </a:r>
            <a:r>
              <a:rPr lang="en-US" sz="1600" dirty="0" err="1" smtClean="0"/>
              <a:t>HttpServletRequest</a:t>
            </a:r>
            <a:r>
              <a:rPr lang="en-US" sz="1600" dirty="0" smtClean="0"/>
              <a:t> request, </a:t>
            </a:r>
            <a:r>
              <a:rPr lang="en-US" sz="1600" dirty="0" err="1" smtClean="0"/>
              <a:t>HttpServletResponse</a:t>
            </a:r>
            <a:r>
              <a:rPr lang="en-US" sz="1600" dirty="0" smtClean="0"/>
              <a:t> response) throws </a:t>
            </a:r>
            <a:r>
              <a:rPr lang="en-US" sz="1600" dirty="0" err="1" smtClean="0"/>
              <a:t>ServletException</a:t>
            </a:r>
            <a:r>
              <a:rPr lang="en-US" sz="1600" dirty="0" smtClean="0"/>
              <a:t>, </a:t>
            </a:r>
            <a:r>
              <a:rPr lang="en-US" sz="1600" dirty="0" err="1" smtClean="0"/>
              <a:t>IOException</a:t>
            </a:r>
            <a:r>
              <a:rPr lang="en-US" sz="1600" dirty="0" smtClean="0"/>
              <a:t> </a:t>
            </a:r>
            <a:r>
              <a:rPr lang="en-US" sz="1600" dirty="0" smtClean="0"/>
              <a:t>{</a:t>
            </a:r>
            <a:endParaRPr lang="en-US" sz="1600" dirty="0" smtClean="0"/>
          </a:p>
          <a:p>
            <a:pPr lvl="2">
              <a:buNone/>
            </a:pPr>
            <a:r>
              <a:rPr lang="en-US" sz="1600" dirty="0" err="1" smtClean="0"/>
              <a:t>response.setContentType</a:t>
            </a:r>
            <a:r>
              <a:rPr lang="en-US" sz="1600" dirty="0" smtClean="0"/>
              <a:t>("text/html");</a:t>
            </a:r>
          </a:p>
          <a:p>
            <a:pPr lvl="2">
              <a:buNone/>
            </a:pPr>
            <a:r>
              <a:rPr lang="en-US" sz="1600" dirty="0" err="1" smtClean="0"/>
              <a:t>PrintWriter</a:t>
            </a:r>
            <a:r>
              <a:rPr lang="en-US" sz="1600" dirty="0" smtClean="0"/>
              <a:t> out = </a:t>
            </a:r>
            <a:r>
              <a:rPr lang="en-US" sz="1600" dirty="0" err="1" smtClean="0"/>
              <a:t>response.getWriter</a:t>
            </a:r>
            <a:r>
              <a:rPr lang="en-US" sz="1600" dirty="0" smtClean="0"/>
              <a:t>();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("&lt;html&gt;");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("&lt;head&gt;");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("&lt;title&gt;</a:t>
            </a:r>
            <a:r>
              <a:rPr lang="en-US" sz="1600" dirty="0" err="1" smtClean="0"/>
              <a:t>HelloWorld</a:t>
            </a:r>
            <a:r>
              <a:rPr lang="en-US" sz="1600" dirty="0" smtClean="0"/>
              <a:t>!&lt;/title&gt;");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("&lt;/head&gt;");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("&lt;body&gt;");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("&lt;h1&gt;Hello World!&lt;/h1&gt;");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("&lt;/body&gt;");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("&lt;/html&gt;");</a:t>
            </a:r>
          </a:p>
          <a:p>
            <a:pPr lvl="1">
              <a:buNone/>
            </a:pPr>
            <a:r>
              <a:rPr lang="en-US" sz="1600" dirty="0" smtClean="0"/>
              <a:t>}</a:t>
            </a:r>
          </a:p>
          <a:p>
            <a:pPr>
              <a:buNone/>
            </a:pPr>
            <a:r>
              <a:rPr lang="en-US" sz="1600" dirty="0" smtClean="0"/>
              <a:t>}</a:t>
            </a:r>
            <a:endParaRPr lang="th-TH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</a:t>
            </a:r>
            <a:r>
              <a:rPr lang="en-US" dirty="0" err="1" smtClean="0"/>
              <a:t>Servlets</a:t>
            </a:r>
            <a:r>
              <a:rPr lang="en-US" dirty="0" smtClean="0"/>
              <a:t> from the Browser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 to: </a:t>
            </a:r>
            <a:r>
              <a:rPr lang="en-US" dirty="0" smtClean="0">
                <a:hlinkClick r:id="rId3"/>
              </a:rPr>
              <a:t>http://localhost:8080</a:t>
            </a:r>
            <a:endParaRPr lang="en-US" dirty="0" smtClean="0"/>
          </a:p>
          <a:p>
            <a:pPr lvl="1"/>
            <a:r>
              <a:rPr lang="en-US" dirty="0" smtClean="0"/>
              <a:t>Usually there will be an application name:</a:t>
            </a:r>
          </a:p>
          <a:p>
            <a:pPr lvl="2"/>
            <a:r>
              <a:rPr lang="en-US" dirty="0" smtClean="0">
                <a:hlinkClick r:id="rId4"/>
              </a:rPr>
              <a:t>http://localhost:8080/L14Tomcat/HelloWorld</a:t>
            </a:r>
            <a:endParaRPr lang="en-US" dirty="0" smtClean="0"/>
          </a:p>
          <a:p>
            <a:pPr lvl="1"/>
            <a:r>
              <a:rPr lang="en-US" dirty="0" smtClean="0"/>
              <a:t>The “ROOT” app is accessed with no app name”</a:t>
            </a:r>
          </a:p>
          <a:p>
            <a:pPr lvl="2"/>
            <a:r>
              <a:rPr lang="en-US" dirty="0" smtClean="0"/>
              <a:t>By default, Tomcat splash screen.</a:t>
            </a:r>
          </a:p>
          <a:p>
            <a:pPr lvl="2"/>
            <a:r>
              <a:rPr lang="en-US" dirty="0" smtClean="0">
                <a:hlinkClick r:id="rId5"/>
              </a:rPr>
              <a:t>http://localhost:8080/HelloWorld</a:t>
            </a:r>
            <a:endParaRPr lang="en-US" dirty="0" smtClean="0"/>
          </a:p>
          <a:p>
            <a:r>
              <a:rPr lang="en-US" dirty="0" smtClean="0"/>
              <a:t>If it’s on a remote machine:</a:t>
            </a:r>
          </a:p>
          <a:p>
            <a:pPr lvl="1"/>
            <a:r>
              <a:rPr lang="en-US" dirty="0" smtClean="0">
                <a:hlinkClick r:id="rId6"/>
              </a:rPr>
              <a:t>http://**********.ac.th/L14Tomcat/HelloWorld</a:t>
            </a:r>
            <a:endParaRPr lang="en-US" dirty="0" smtClean="0"/>
          </a:p>
          <a:p>
            <a:pPr lvl="1"/>
            <a:endParaRPr lang="th-TH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Time Example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protected void </a:t>
            </a:r>
            <a:r>
              <a:rPr lang="en-US" sz="1600" dirty="0" err="1" smtClean="0"/>
              <a:t>doGet</a:t>
            </a:r>
            <a:r>
              <a:rPr lang="en-US" sz="1600" dirty="0" smtClean="0"/>
              <a:t>(</a:t>
            </a:r>
            <a:r>
              <a:rPr lang="en-US" sz="1600" dirty="0" err="1" smtClean="0"/>
              <a:t>HttpServletRequest</a:t>
            </a:r>
            <a:r>
              <a:rPr lang="en-US" sz="1600" dirty="0" smtClean="0"/>
              <a:t> </a:t>
            </a:r>
            <a:r>
              <a:rPr lang="en-US" sz="1600" dirty="0" smtClean="0"/>
              <a:t>request, </a:t>
            </a:r>
            <a:r>
              <a:rPr lang="en-US" sz="1600" dirty="0" err="1" smtClean="0"/>
              <a:t>HttpServletResponse</a:t>
            </a:r>
            <a:r>
              <a:rPr lang="en-US" sz="1600" dirty="0" smtClean="0"/>
              <a:t> </a:t>
            </a:r>
            <a:r>
              <a:rPr lang="en-US" sz="1600" dirty="0" smtClean="0"/>
              <a:t>response) throws </a:t>
            </a:r>
            <a:r>
              <a:rPr lang="en-US" sz="1600" dirty="0" err="1" smtClean="0"/>
              <a:t>ServletException</a:t>
            </a:r>
            <a:r>
              <a:rPr lang="en-US" sz="1600" dirty="0" smtClean="0"/>
              <a:t>, </a:t>
            </a:r>
            <a:r>
              <a:rPr lang="en-US" sz="1600" dirty="0" err="1" smtClean="0"/>
              <a:t>IOException</a:t>
            </a:r>
            <a:r>
              <a:rPr lang="en-US" sz="1600" dirty="0" smtClean="0"/>
              <a:t> {</a:t>
            </a:r>
          </a:p>
          <a:p>
            <a:pPr lvl="2">
              <a:buNone/>
            </a:pPr>
            <a:r>
              <a:rPr lang="en-US" sz="1600" dirty="0" err="1" smtClean="0"/>
              <a:t>response.setContentType</a:t>
            </a:r>
            <a:r>
              <a:rPr lang="en-US" sz="1600" dirty="0" smtClean="0"/>
              <a:t>("text/html");</a:t>
            </a:r>
          </a:p>
          <a:p>
            <a:pPr lvl="2">
              <a:buNone/>
            </a:pPr>
            <a:r>
              <a:rPr lang="en-US" sz="1600" dirty="0" err="1" smtClean="0"/>
              <a:t>PrintWriter</a:t>
            </a:r>
            <a:r>
              <a:rPr lang="en-US" sz="1600" dirty="0" smtClean="0"/>
              <a:t> out = </a:t>
            </a:r>
            <a:r>
              <a:rPr lang="en-US" sz="1600" dirty="0" err="1" smtClean="0"/>
              <a:t>response.getWriter</a:t>
            </a:r>
            <a:r>
              <a:rPr lang="en-US" sz="1600" dirty="0" smtClean="0"/>
              <a:t>();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("&lt;html&gt;");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("&lt;head&gt;");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("&lt;title&gt;Time Example&lt;/title&gt;");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("&lt;/head&gt;");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("&lt;body&gt;");</a:t>
            </a:r>
          </a:p>
          <a:p>
            <a:pPr lvl="2">
              <a:buNone/>
            </a:pPr>
            <a:r>
              <a:rPr lang="en-US" sz="1600" dirty="0" err="1" smtClean="0"/>
              <a:t>DecimalFormat</a:t>
            </a:r>
            <a:r>
              <a:rPr lang="en-US" sz="1600" dirty="0" smtClean="0"/>
              <a:t> </a:t>
            </a:r>
            <a:r>
              <a:rPr lang="en-US" sz="1600" dirty="0" err="1" smtClean="0"/>
              <a:t>df</a:t>
            </a:r>
            <a:r>
              <a:rPr lang="en-US" sz="1600" dirty="0" smtClean="0"/>
              <a:t> = new </a:t>
            </a:r>
            <a:r>
              <a:rPr lang="en-US" sz="1600" dirty="0" err="1" smtClean="0"/>
              <a:t>DecimalFormat</a:t>
            </a:r>
            <a:r>
              <a:rPr lang="en-US" sz="1600" dirty="0" smtClean="0"/>
              <a:t>("#,###");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("&lt;h1&gt;Current time in milliseconds is "</a:t>
            </a:r>
          </a:p>
          <a:p>
            <a:pPr lvl="2">
              <a:buNone/>
            </a:pPr>
            <a:r>
              <a:rPr lang="en-US" sz="1600" dirty="0" smtClean="0"/>
              <a:t>			+ </a:t>
            </a:r>
            <a:r>
              <a:rPr lang="en-US" sz="1600" dirty="0" err="1" smtClean="0"/>
              <a:t>df.format</a:t>
            </a:r>
            <a:r>
              <a:rPr lang="en-US" sz="1600" dirty="0" smtClean="0"/>
              <a:t>(</a:t>
            </a:r>
            <a:r>
              <a:rPr lang="en-US" sz="1600" dirty="0" err="1" smtClean="0"/>
              <a:t>System.</a:t>
            </a:r>
            <a:r>
              <a:rPr lang="en-US" sz="1600" i="1" dirty="0" err="1" smtClean="0"/>
              <a:t>currentTimeMillis</a:t>
            </a:r>
            <a:r>
              <a:rPr lang="en-US" sz="1600" i="1" dirty="0" smtClean="0"/>
              <a:t>()) + "&lt;/h1&gt;");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("&lt;hr/&gt;");</a:t>
            </a:r>
          </a:p>
          <a:p>
            <a:pPr lvl="2">
              <a:buNone/>
            </a:pPr>
            <a:r>
              <a:rPr lang="en-US" sz="1600" dirty="0" err="1" smtClean="0"/>
              <a:t>java.util.Date</a:t>
            </a:r>
            <a:r>
              <a:rPr lang="en-US" sz="1600" dirty="0" smtClean="0"/>
              <a:t> d = new </a:t>
            </a:r>
            <a:r>
              <a:rPr lang="en-US" sz="1600" dirty="0" err="1" smtClean="0"/>
              <a:t>java.util.Date</a:t>
            </a:r>
            <a:r>
              <a:rPr lang="en-US" sz="1600" dirty="0" smtClean="0"/>
              <a:t>();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("&lt;h1&gt;The local time is " + d + "&lt;/h1&gt;");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("&lt;/body&gt;");</a:t>
            </a:r>
          </a:p>
          <a:p>
            <a:pPr lvl="2">
              <a:buNone/>
            </a:pPr>
            <a:r>
              <a:rPr lang="en-US" sz="1600" dirty="0" err="1" smtClean="0"/>
              <a:t>out.println</a:t>
            </a:r>
            <a:r>
              <a:rPr lang="en-US" sz="1600" dirty="0" smtClean="0"/>
              <a:t>("&lt;/html&gt;");</a:t>
            </a:r>
          </a:p>
          <a:p>
            <a:pPr>
              <a:buNone/>
            </a:pPr>
            <a:r>
              <a:rPr lang="th-TH" sz="1600" dirty="0" smtClean="0"/>
              <a:t>}</a:t>
            </a:r>
            <a:endParaRPr lang="th-TH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en-US" dirty="0" smtClean="0"/>
              <a:t>A Space Example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protected void </a:t>
            </a:r>
            <a:r>
              <a:rPr lang="en-US" sz="1400" dirty="0" err="1" smtClean="0"/>
              <a:t>doGet</a:t>
            </a:r>
            <a:r>
              <a:rPr lang="en-US" sz="1400" dirty="0" smtClean="0"/>
              <a:t>(</a:t>
            </a:r>
            <a:r>
              <a:rPr lang="en-US" sz="1400" dirty="0" err="1" smtClean="0"/>
              <a:t>HttpServletRequest</a:t>
            </a:r>
            <a:r>
              <a:rPr lang="en-US" sz="1400" dirty="0" smtClean="0"/>
              <a:t> </a:t>
            </a:r>
            <a:r>
              <a:rPr lang="en-US" sz="1400" dirty="0" err="1" smtClean="0"/>
              <a:t>request,HttpServletResponse</a:t>
            </a:r>
            <a:r>
              <a:rPr lang="en-US" sz="1400" dirty="0" smtClean="0"/>
              <a:t> </a:t>
            </a:r>
            <a:r>
              <a:rPr lang="en-US" sz="1400" dirty="0" smtClean="0"/>
              <a:t>response) throws </a:t>
            </a:r>
            <a:r>
              <a:rPr lang="en-US" sz="1400" dirty="0" err="1" smtClean="0"/>
              <a:t>ServletException</a:t>
            </a:r>
            <a:r>
              <a:rPr lang="en-US" sz="1400" dirty="0" smtClean="0"/>
              <a:t>, </a:t>
            </a:r>
            <a:r>
              <a:rPr lang="en-US" sz="1400" dirty="0" err="1" smtClean="0"/>
              <a:t>IOException</a:t>
            </a:r>
            <a:r>
              <a:rPr lang="en-US" sz="1400" dirty="0" smtClean="0"/>
              <a:t> {</a:t>
            </a:r>
          </a:p>
          <a:p>
            <a:pPr>
              <a:buNone/>
            </a:pPr>
            <a:r>
              <a:rPr lang="en-US" sz="1400" dirty="0" smtClean="0"/>
              <a:t>		</a:t>
            </a:r>
            <a:r>
              <a:rPr lang="en-US" sz="1400" dirty="0" err="1" smtClean="0"/>
              <a:t>response.setContentType</a:t>
            </a:r>
            <a:r>
              <a:rPr lang="en-US" sz="1400" dirty="0" smtClean="0"/>
              <a:t>("text/html");</a:t>
            </a:r>
          </a:p>
          <a:p>
            <a:pPr lvl="2">
              <a:buNone/>
            </a:pPr>
            <a:r>
              <a:rPr lang="en-US" sz="1400" dirty="0" err="1" smtClean="0"/>
              <a:t>PrintWriter</a:t>
            </a:r>
            <a:r>
              <a:rPr lang="en-US" sz="1400" dirty="0" smtClean="0"/>
              <a:t> out = </a:t>
            </a:r>
            <a:r>
              <a:rPr lang="en-US" sz="1400" dirty="0" err="1" smtClean="0"/>
              <a:t>response.getWriter</a:t>
            </a:r>
            <a:r>
              <a:rPr lang="en-US" sz="1400" dirty="0" smtClean="0"/>
              <a:t>();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("&lt;html&gt;");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("&lt;head&gt;");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("&lt;title&gt;Space Example&lt;/title&gt;");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("&lt;/head&gt;");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("&lt;body&gt;");</a:t>
            </a:r>
          </a:p>
          <a:p>
            <a:pPr lvl="2">
              <a:buNone/>
            </a:pPr>
            <a:r>
              <a:rPr lang="en-US" sz="1400" dirty="0" smtClean="0"/>
              <a:t>String </a:t>
            </a:r>
            <a:r>
              <a:rPr lang="en-US" sz="1400" dirty="0" err="1" smtClean="0"/>
              <a:t>osName</a:t>
            </a:r>
            <a:r>
              <a:rPr lang="en-US" sz="1400" dirty="0" smtClean="0"/>
              <a:t> = </a:t>
            </a:r>
            <a:r>
              <a:rPr lang="en-US" sz="1400" dirty="0" err="1" smtClean="0"/>
              <a:t>System.</a:t>
            </a:r>
            <a:r>
              <a:rPr lang="en-US" sz="1400" i="1" dirty="0" err="1" smtClean="0"/>
              <a:t>getProperty</a:t>
            </a:r>
            <a:r>
              <a:rPr lang="en-US" sz="1400" i="1" dirty="0" smtClean="0"/>
              <a:t>("os.name");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("&lt;h2&gt; Server Operating System: " + </a:t>
            </a:r>
            <a:r>
              <a:rPr lang="en-US" sz="1400" dirty="0" err="1" smtClean="0"/>
              <a:t>osName</a:t>
            </a:r>
            <a:r>
              <a:rPr lang="en-US" sz="1400" dirty="0" smtClean="0"/>
              <a:t>);</a:t>
            </a:r>
          </a:p>
          <a:p>
            <a:pPr lvl="2">
              <a:buNone/>
            </a:pPr>
            <a:endParaRPr lang="th-TH" sz="1400" dirty="0" smtClean="0"/>
          </a:p>
          <a:p>
            <a:pPr lvl="2">
              <a:buNone/>
            </a:pPr>
            <a:r>
              <a:rPr lang="en-US" sz="1400" dirty="0" err="1" smtClean="0"/>
              <a:t>DecimalFormat</a:t>
            </a:r>
            <a:r>
              <a:rPr lang="en-US" sz="1400" dirty="0" smtClean="0"/>
              <a:t> </a:t>
            </a:r>
            <a:r>
              <a:rPr lang="en-US" sz="1400" dirty="0" err="1" smtClean="0"/>
              <a:t>df</a:t>
            </a:r>
            <a:r>
              <a:rPr lang="en-US" sz="1400" dirty="0" smtClean="0"/>
              <a:t> = new </a:t>
            </a:r>
            <a:r>
              <a:rPr lang="en-US" sz="1400" dirty="0" err="1" smtClean="0"/>
              <a:t>DecimalFormat</a:t>
            </a:r>
            <a:r>
              <a:rPr lang="en-US" sz="1400" dirty="0" smtClean="0"/>
              <a:t>("#,###");</a:t>
            </a:r>
          </a:p>
          <a:p>
            <a:pPr lvl="2">
              <a:buNone/>
            </a:pPr>
            <a:r>
              <a:rPr lang="en-US" sz="1400" dirty="0" smtClean="0"/>
              <a:t>File f;</a:t>
            </a:r>
          </a:p>
          <a:p>
            <a:pPr lvl="2">
              <a:buNone/>
            </a:pPr>
            <a:r>
              <a:rPr lang="en-US" sz="1400" dirty="0" smtClean="0"/>
              <a:t>if (</a:t>
            </a:r>
            <a:r>
              <a:rPr lang="en-US" sz="1400" dirty="0" err="1" smtClean="0"/>
              <a:t>osName.startsWith</a:t>
            </a:r>
            <a:r>
              <a:rPr lang="en-US" sz="1400" dirty="0" smtClean="0"/>
              <a:t>("Windows")) {</a:t>
            </a:r>
          </a:p>
          <a:p>
            <a:pPr lvl="2">
              <a:buNone/>
            </a:pPr>
            <a:r>
              <a:rPr lang="en-US" sz="1400" dirty="0" smtClean="0"/>
              <a:t>	f </a:t>
            </a:r>
            <a:r>
              <a:rPr lang="en-US" sz="1400" dirty="0" smtClean="0"/>
              <a:t>= new File("c:\\");</a:t>
            </a:r>
          </a:p>
          <a:p>
            <a:pPr lvl="2">
              <a:buNone/>
            </a:pPr>
            <a:r>
              <a:rPr lang="en-US" sz="1400" dirty="0" smtClean="0"/>
              <a:t>} else {</a:t>
            </a:r>
          </a:p>
          <a:p>
            <a:pPr lvl="2">
              <a:buNone/>
            </a:pPr>
            <a:r>
              <a:rPr lang="en-US" sz="1400" dirty="0" smtClean="0"/>
              <a:t>	f </a:t>
            </a:r>
            <a:r>
              <a:rPr lang="en-US" sz="1400" dirty="0" smtClean="0"/>
              <a:t>= new File("/");</a:t>
            </a:r>
          </a:p>
          <a:p>
            <a:pPr lvl="2">
              <a:buNone/>
            </a:pPr>
            <a:r>
              <a:rPr lang="th-TH" sz="1400" dirty="0" smtClean="0"/>
              <a:t>}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("&lt;h1&gt;Current free space on the server is "</a:t>
            </a:r>
          </a:p>
          <a:p>
            <a:pPr lvl="2">
              <a:buNone/>
            </a:pPr>
            <a:r>
              <a:rPr lang="en-US" sz="1400" dirty="0" smtClean="0"/>
              <a:t>			+ </a:t>
            </a:r>
            <a:r>
              <a:rPr lang="en-US" sz="1400" dirty="0" err="1" smtClean="0"/>
              <a:t>df.format</a:t>
            </a:r>
            <a:r>
              <a:rPr lang="en-US" sz="1400" dirty="0" smtClean="0"/>
              <a:t>(</a:t>
            </a:r>
            <a:r>
              <a:rPr lang="en-US" sz="1400" dirty="0" err="1" smtClean="0"/>
              <a:t>f.getFreeSpace</a:t>
            </a:r>
            <a:r>
              <a:rPr lang="en-US" sz="1400" dirty="0" smtClean="0"/>
              <a:t>()) + " bytes&lt;/h1&gt;");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("&lt;/body&gt;");</a:t>
            </a:r>
          </a:p>
          <a:p>
            <a:pPr lvl="2">
              <a:buNone/>
            </a:pPr>
            <a:r>
              <a:rPr lang="en-US" sz="1400" dirty="0" err="1" smtClean="0"/>
              <a:t>out.println</a:t>
            </a:r>
            <a:r>
              <a:rPr lang="en-US" sz="1400" dirty="0" smtClean="0"/>
              <a:t>("&lt;/html&gt;");</a:t>
            </a:r>
          </a:p>
          <a:p>
            <a:pPr>
              <a:buNone/>
            </a:pPr>
            <a:r>
              <a:rPr lang="th-TH" sz="1400" dirty="0" smtClean="0"/>
              <a:t>}</a:t>
            </a:r>
            <a:endParaRPr lang="th-TH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Interface:</a:t>
            </a:r>
            <a:br>
              <a:rPr lang="en-US" dirty="0" smtClean="0"/>
            </a:br>
            <a:r>
              <a:rPr lang="en-US" dirty="0" err="1" smtClean="0"/>
              <a:t>javax.servlet.http.HttpServletRequest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Servlet</a:t>
            </a:r>
            <a:r>
              <a:rPr lang="en-US" dirty="0" smtClean="0"/>
              <a:t> container provides its own implementation(s)</a:t>
            </a:r>
          </a:p>
          <a:p>
            <a:r>
              <a:rPr lang="en-US" dirty="0" smtClean="0"/>
              <a:t>Selected methods:</a:t>
            </a:r>
          </a:p>
          <a:p>
            <a:pPr lvl="1"/>
            <a:r>
              <a:rPr lang="en-US" b="1" dirty="0" err="1" smtClean="0"/>
              <a:t>getHeaderNames</a:t>
            </a:r>
            <a:r>
              <a:rPr lang="en-US" b="1" dirty="0" smtClean="0"/>
              <a:t>()</a:t>
            </a:r>
          </a:p>
          <a:p>
            <a:pPr lvl="1"/>
            <a:r>
              <a:rPr lang="en-US" b="1" dirty="0" err="1" smtClean="0"/>
              <a:t>getHeader</a:t>
            </a:r>
            <a:r>
              <a:rPr lang="en-US" b="1" dirty="0" smtClean="0"/>
              <a:t>(name)</a:t>
            </a:r>
          </a:p>
          <a:p>
            <a:pPr lvl="1"/>
            <a:r>
              <a:rPr lang="en-US" b="1" dirty="0" err="1" smtClean="0"/>
              <a:t>getQueryString</a:t>
            </a:r>
            <a:r>
              <a:rPr lang="en-US" b="1" dirty="0" smtClean="0"/>
              <a:t>()</a:t>
            </a:r>
          </a:p>
          <a:p>
            <a:pPr lvl="1"/>
            <a:r>
              <a:rPr lang="en-US" b="1" dirty="0" err="1" smtClean="0"/>
              <a:t>getParameterNames</a:t>
            </a:r>
            <a:r>
              <a:rPr lang="en-US" b="1" dirty="0" smtClean="0"/>
              <a:t>()</a:t>
            </a:r>
          </a:p>
          <a:p>
            <a:pPr lvl="1"/>
            <a:r>
              <a:rPr lang="en-US" b="1" dirty="0" err="1" smtClean="0"/>
              <a:t>getParameter</a:t>
            </a:r>
            <a:r>
              <a:rPr lang="en-US" b="1" dirty="0" smtClean="0"/>
              <a:t>(name)</a:t>
            </a:r>
          </a:p>
          <a:p>
            <a:pPr lvl="1"/>
            <a:r>
              <a:rPr lang="en-US" b="1" dirty="0" err="1" smtClean="0"/>
              <a:t>getCookie</a:t>
            </a:r>
            <a:r>
              <a:rPr lang="en-US" b="1" dirty="0" smtClean="0"/>
              <a:t>(), </a:t>
            </a:r>
            <a:r>
              <a:rPr lang="en-US" b="1" dirty="0" err="1" smtClean="0"/>
              <a:t>getSession</a:t>
            </a:r>
            <a:r>
              <a:rPr lang="en-US" b="1" dirty="0" smtClean="0"/>
              <a:t>(),…</a:t>
            </a:r>
          </a:p>
          <a:p>
            <a:pPr lvl="1"/>
            <a:r>
              <a:rPr lang="en-US" dirty="0" smtClean="0"/>
              <a:t>Described in any book on </a:t>
            </a:r>
            <a:r>
              <a:rPr lang="en-US" dirty="0" err="1" smtClean="0"/>
              <a:t>Servlets</a:t>
            </a:r>
            <a:r>
              <a:rPr lang="en-US" dirty="0" smtClean="0"/>
              <a:t> &amp; the Java Doc</a:t>
            </a:r>
            <a:endParaRPr lang="th-TH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Interface:</a:t>
            </a:r>
            <a:br>
              <a:rPr lang="en-US" dirty="0" smtClean="0"/>
            </a:br>
            <a:r>
              <a:rPr lang="en-US" dirty="0" err="1" smtClean="0"/>
              <a:t>javax.servlet.http.HttpServletResponse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Servlet</a:t>
            </a:r>
            <a:r>
              <a:rPr lang="en-US" dirty="0" smtClean="0"/>
              <a:t> container provides its own implementation(s)</a:t>
            </a:r>
          </a:p>
          <a:p>
            <a:r>
              <a:rPr lang="en-US" dirty="0" smtClean="0"/>
              <a:t>Selected methods:</a:t>
            </a:r>
          </a:p>
          <a:p>
            <a:pPr lvl="1"/>
            <a:r>
              <a:rPr lang="en-US" b="1" dirty="0" err="1" smtClean="0"/>
              <a:t>getWriter</a:t>
            </a:r>
            <a:r>
              <a:rPr lang="en-US" b="1" dirty="0" smtClean="0"/>
              <a:t>()</a:t>
            </a:r>
          </a:p>
          <a:p>
            <a:pPr lvl="1"/>
            <a:r>
              <a:rPr lang="en-US" b="1" dirty="0" err="1" smtClean="0"/>
              <a:t>setContentType</a:t>
            </a:r>
            <a:r>
              <a:rPr lang="en-US" b="1" dirty="0" smtClean="0"/>
              <a:t>(</a:t>
            </a:r>
            <a:r>
              <a:rPr lang="en-US" b="1" dirty="0" err="1" smtClean="0"/>
              <a:t>contentType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err="1" smtClean="0"/>
              <a:t>getOutputStream</a:t>
            </a:r>
            <a:r>
              <a:rPr lang="en-US" b="1" dirty="0" smtClean="0"/>
              <a:t>()</a:t>
            </a:r>
          </a:p>
          <a:p>
            <a:pPr lvl="1"/>
            <a:r>
              <a:rPr lang="en-US" b="1" dirty="0" err="1" smtClean="0"/>
              <a:t>sendError</a:t>
            </a:r>
            <a:r>
              <a:rPr lang="en-US" b="1" dirty="0" smtClean="0"/>
              <a:t>(</a:t>
            </a:r>
            <a:r>
              <a:rPr lang="en-US" b="1" dirty="0" err="1" smtClean="0"/>
              <a:t>statusCode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err="1" smtClean="0"/>
              <a:t>sendRedirect</a:t>
            </a:r>
            <a:r>
              <a:rPr lang="en-US" b="1" dirty="0" smtClean="0"/>
              <a:t>(</a:t>
            </a:r>
            <a:r>
              <a:rPr lang="en-US" b="1" dirty="0" err="1" smtClean="0"/>
              <a:t>url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err="1" smtClean="0"/>
              <a:t>addCookie</a:t>
            </a:r>
            <a:r>
              <a:rPr lang="en-US" b="1" dirty="0" smtClean="0"/>
              <a:t>(cookie)</a:t>
            </a:r>
          </a:p>
          <a:p>
            <a:pPr lvl="1"/>
            <a:r>
              <a:rPr lang="en-US" dirty="0" smtClean="0"/>
              <a:t>Described in any book on </a:t>
            </a:r>
            <a:r>
              <a:rPr lang="en-US" dirty="0" err="1" smtClean="0"/>
              <a:t>Servlets</a:t>
            </a:r>
            <a:r>
              <a:rPr lang="en-US" dirty="0" smtClean="0"/>
              <a:t> &amp; the Java Doc</a:t>
            </a:r>
            <a:endParaRPr lang="th-TH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</a:t>
            </a:r>
            <a:r>
              <a:rPr lang="en-US" dirty="0" err="1" smtClean="0"/>
              <a:t>webapps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application has its own folder in </a:t>
            </a:r>
            <a:r>
              <a:rPr lang="en-US" dirty="0" err="1" smtClean="0"/>
              <a:t>webapps</a:t>
            </a:r>
            <a:endParaRPr lang="en-US" dirty="0" smtClean="0"/>
          </a:p>
          <a:p>
            <a:pPr lvl="1"/>
            <a:r>
              <a:rPr lang="en-US" dirty="0" smtClean="0"/>
              <a:t>The application name and folder name are the same</a:t>
            </a:r>
          </a:p>
          <a:p>
            <a:pPr lvl="1"/>
            <a:r>
              <a:rPr lang="en-US" dirty="0" smtClean="0"/>
              <a:t>HTML files can just go in that app’s folder</a:t>
            </a:r>
          </a:p>
          <a:p>
            <a:pPr lvl="1"/>
            <a:r>
              <a:rPr lang="en-US" dirty="0" smtClean="0"/>
              <a:t>The WEB-INF folder contains:</a:t>
            </a:r>
          </a:p>
          <a:p>
            <a:pPr lvl="2"/>
            <a:r>
              <a:rPr lang="en-US" dirty="0" smtClean="0"/>
              <a:t>A web.xml file with app </a:t>
            </a:r>
            <a:r>
              <a:rPr lang="en-US" dirty="0" err="1" smtClean="0"/>
              <a:t>config</a:t>
            </a:r>
            <a:r>
              <a:rPr lang="en-US" dirty="0" smtClean="0"/>
              <a:t> info</a:t>
            </a:r>
          </a:p>
          <a:p>
            <a:pPr lvl="2"/>
            <a:r>
              <a:rPr lang="en-US" dirty="0" smtClean="0"/>
              <a:t>A classes directory for the app binaries</a:t>
            </a:r>
          </a:p>
          <a:p>
            <a:pPr lvl="3"/>
            <a:r>
              <a:rPr lang="en-US" dirty="0" err="1" smtClean="0"/>
              <a:t>servlet</a:t>
            </a:r>
            <a:r>
              <a:rPr lang="en-US" dirty="0" smtClean="0"/>
              <a:t>-name : </a:t>
            </a:r>
            <a:r>
              <a:rPr lang="en-US" dirty="0" err="1" smtClean="0"/>
              <a:t>servlet</a:t>
            </a:r>
            <a:r>
              <a:rPr lang="en-US" dirty="0" smtClean="0"/>
              <a:t>-class</a:t>
            </a:r>
          </a:p>
          <a:p>
            <a:pPr lvl="3"/>
            <a:r>
              <a:rPr lang="en-US" dirty="0" smtClean="0"/>
              <a:t>can map html file to </a:t>
            </a:r>
            <a:r>
              <a:rPr lang="en-US" dirty="0" err="1" smtClean="0"/>
              <a:t>servlets</a:t>
            </a:r>
            <a:endParaRPr lang="en-US" dirty="0" smtClean="0"/>
          </a:p>
          <a:p>
            <a:pPr lvl="4"/>
            <a:r>
              <a:rPr lang="en-US" dirty="0" smtClean="0"/>
              <a:t>e.g. “hello.html” runs “</a:t>
            </a:r>
            <a:r>
              <a:rPr lang="en-US" dirty="0" err="1" smtClean="0"/>
              <a:t>helloX</a:t>
            </a:r>
            <a:r>
              <a:rPr lang="en-US" dirty="0" smtClean="0"/>
              <a:t>”</a:t>
            </a:r>
            <a:endParaRPr lang="th-TH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Tomcat Administration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dirty="0" smtClean="0"/>
              <a:t>Manager Interface</a:t>
            </a:r>
          </a:p>
          <a:p>
            <a:pPr lvl="1"/>
            <a:r>
              <a:rPr lang="en-US" dirty="0" smtClean="0"/>
              <a:t>Access via Home Page</a:t>
            </a:r>
          </a:p>
          <a:p>
            <a:r>
              <a:rPr lang="en-US" dirty="0" smtClean="0"/>
              <a:t>XML files contain configuration information</a:t>
            </a:r>
          </a:p>
          <a:p>
            <a:pPr lvl="1"/>
            <a:r>
              <a:rPr lang="en-US" dirty="0" smtClean="0"/>
              <a:t>In conf directory and WEB-INF directories</a:t>
            </a:r>
          </a:p>
          <a:p>
            <a:r>
              <a:rPr lang="en-US" b="1" dirty="0" smtClean="0"/>
              <a:t>%CATALINA_HOME%/logs</a:t>
            </a:r>
          </a:p>
          <a:p>
            <a:pPr lvl="1"/>
            <a:r>
              <a:rPr lang="en-US" b="1" dirty="0" smtClean="0"/>
              <a:t>stdout*.log</a:t>
            </a:r>
            <a:r>
              <a:rPr lang="en-US" dirty="0" smtClean="0"/>
              <a:t> contains </a:t>
            </a:r>
            <a:r>
              <a:rPr lang="en-US" dirty="0" err="1" smtClean="0"/>
              <a:t>System.out</a:t>
            </a:r>
            <a:r>
              <a:rPr lang="en-US" dirty="0" smtClean="0"/>
              <a:t> output</a:t>
            </a:r>
          </a:p>
          <a:p>
            <a:pPr lvl="1"/>
            <a:r>
              <a:rPr lang="en-US" b="1" dirty="0" smtClean="0"/>
              <a:t>manager*.log</a:t>
            </a:r>
            <a:r>
              <a:rPr lang="en-US" dirty="0" smtClean="0"/>
              <a:t> output from “Manager” app</a:t>
            </a:r>
          </a:p>
          <a:p>
            <a:pPr lvl="1"/>
            <a:r>
              <a:rPr lang="en-US" b="1" dirty="0" smtClean="0"/>
              <a:t>catalina*.log</a:t>
            </a:r>
            <a:r>
              <a:rPr lang="en-US" dirty="0" smtClean="0"/>
              <a:t> info on apps loaded</a:t>
            </a:r>
          </a:p>
          <a:p>
            <a:pPr lvl="1"/>
            <a:r>
              <a:rPr lang="en-US" dirty="0" smtClean="0"/>
              <a:t>Look for the files with the recent write dates</a:t>
            </a:r>
            <a:endParaRPr lang="th-TH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.war</a:t>
            </a:r>
            <a:r>
              <a:rPr lang="en-US" dirty="0" smtClean="0"/>
              <a:t> Files</a:t>
            </a:r>
            <a:endParaRPr lang="th-TH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Applications are often packaged in web archive files</a:t>
            </a:r>
          </a:p>
          <a:p>
            <a:pPr lvl="1"/>
            <a:r>
              <a:rPr lang="en-US" dirty="0" smtClean="0"/>
              <a:t>They are the same format as </a:t>
            </a:r>
            <a:r>
              <a:rPr lang="en-US" b="1" dirty="0" smtClean="0"/>
              <a:t>.jar</a:t>
            </a:r>
            <a:r>
              <a:rPr lang="en-US" dirty="0" smtClean="0"/>
              <a:t> &amp; </a:t>
            </a:r>
            <a:r>
              <a:rPr lang="en-US" b="1" dirty="0" smtClean="0"/>
              <a:t>.zip</a:t>
            </a:r>
            <a:r>
              <a:rPr lang="en-US" dirty="0" smtClean="0"/>
              <a:t> files</a:t>
            </a:r>
          </a:p>
          <a:p>
            <a:r>
              <a:rPr lang="en-US" dirty="0" smtClean="0"/>
              <a:t>To deploy a </a:t>
            </a:r>
            <a:r>
              <a:rPr lang="en-US" b="1" dirty="0" smtClean="0"/>
              <a:t>.war</a:t>
            </a:r>
            <a:r>
              <a:rPr lang="en-US" dirty="0" smtClean="0"/>
              <a:t> file, you can simply copy it into the </a:t>
            </a:r>
            <a:r>
              <a:rPr lang="en-US" dirty="0" err="1" smtClean="0"/>
              <a:t>webapps</a:t>
            </a:r>
            <a:r>
              <a:rPr lang="en-US" dirty="0" smtClean="0"/>
              <a:t> folder</a:t>
            </a:r>
          </a:p>
          <a:p>
            <a:pPr lvl="1"/>
            <a:r>
              <a:rPr lang="en-US" dirty="0" smtClean="0"/>
              <a:t>When starting up, Tomcat will unzip it and load it</a:t>
            </a:r>
            <a:endParaRPr lang="th-TH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Servlets</a:t>
            </a:r>
            <a:r>
              <a:rPr lang="en-US" dirty="0" smtClean="0"/>
              <a:t>: The good and the bad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Bad</a:t>
            </a:r>
          </a:p>
          <a:p>
            <a:pPr lvl="1"/>
            <a:r>
              <a:rPr lang="en-US" dirty="0" smtClean="0"/>
              <a:t>Java is a complex environment to use</a:t>
            </a:r>
          </a:p>
          <a:p>
            <a:pPr lvl="2"/>
            <a:r>
              <a:rPr lang="en-US" dirty="0" smtClean="0"/>
              <a:t>Editor, </a:t>
            </a:r>
            <a:r>
              <a:rPr lang="en-US" dirty="0" err="1" smtClean="0"/>
              <a:t>javac</a:t>
            </a:r>
            <a:r>
              <a:rPr lang="en-US" dirty="0" smtClean="0"/>
              <a:t>, debugger, etc.</a:t>
            </a:r>
          </a:p>
          <a:p>
            <a:pPr lvl="1"/>
            <a:r>
              <a:rPr lang="en-US" dirty="0" smtClean="0"/>
              <a:t>OO Programming at its best</a:t>
            </a:r>
          </a:p>
          <a:p>
            <a:pPr lvl="2"/>
            <a:r>
              <a:rPr lang="en-US" dirty="0" smtClean="0"/>
              <a:t>methods, interfaces, classes, conventions, etc.</a:t>
            </a:r>
          </a:p>
          <a:p>
            <a:pPr lvl="1"/>
            <a:r>
              <a:rPr lang="en-US" dirty="0" smtClean="0"/>
              <a:t>There are many levers, dials, knobs, etc.</a:t>
            </a:r>
          </a:p>
          <a:p>
            <a:pPr lvl="1"/>
            <a:r>
              <a:rPr lang="en-US" dirty="0" err="1" smtClean="0"/>
              <a:t>Servlets</a:t>
            </a:r>
            <a:r>
              <a:rPr lang="en-US" dirty="0" smtClean="0"/>
              <a:t> not a particularly good API for generating HTML</a:t>
            </a:r>
          </a:p>
          <a:p>
            <a:r>
              <a:rPr lang="en-US" dirty="0" smtClean="0"/>
              <a:t>Good</a:t>
            </a:r>
          </a:p>
          <a:p>
            <a:pPr lvl="1"/>
            <a:r>
              <a:rPr lang="en-US" dirty="0" smtClean="0"/>
              <a:t>Powerful, modern programming language</a:t>
            </a:r>
          </a:p>
          <a:p>
            <a:pPr lvl="1"/>
            <a:r>
              <a:rPr lang="en-US" dirty="0" smtClean="0"/>
              <a:t>Easily extended due to class/package/bean concepts in Java</a:t>
            </a:r>
          </a:p>
          <a:p>
            <a:pPr lvl="1"/>
            <a:r>
              <a:rPr lang="en-US" dirty="0" smtClean="0"/>
              <a:t>Multi-platform, and widely known</a:t>
            </a:r>
            <a:endParaRPr lang="th-TH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Server-side Java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Java version mismatch</a:t>
            </a:r>
          </a:p>
          <a:p>
            <a:pPr lvl="1"/>
            <a:r>
              <a:rPr lang="en-US" dirty="0" smtClean="0"/>
              <a:t>Just generate HTML</a:t>
            </a:r>
          </a:p>
          <a:p>
            <a:pPr lvl="2"/>
            <a:r>
              <a:rPr lang="en-US" dirty="0" smtClean="0"/>
              <a:t>HTML mismatch is an easier problem – Why?</a:t>
            </a:r>
          </a:p>
          <a:p>
            <a:r>
              <a:rPr lang="en-US" dirty="0" smtClean="0"/>
              <a:t>No long download problems</a:t>
            </a:r>
          </a:p>
          <a:p>
            <a:pPr lvl="1"/>
            <a:r>
              <a:rPr lang="en-US" dirty="0" smtClean="0"/>
              <a:t>Many “real” apps have many big .class files</a:t>
            </a:r>
          </a:p>
          <a:p>
            <a:r>
              <a:rPr lang="en-US" dirty="0" smtClean="0"/>
              <a:t>Right way to access server data</a:t>
            </a:r>
          </a:p>
          <a:p>
            <a:pPr lvl="1"/>
            <a:r>
              <a:rPr lang="en-US" dirty="0" smtClean="0"/>
              <a:t>Secure &amp; Fast</a:t>
            </a:r>
          </a:p>
          <a:p>
            <a:pPr lvl="2"/>
            <a:r>
              <a:rPr lang="en-US" dirty="0" smtClean="0"/>
              <a:t>Your program , running on your server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http://cc-web.isri.cmu.edu/Panopto/Pages/Viewer/Default.aspx?id=4175ae32-94b3-4def-a7b7-c46eab2f9126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038" y="504825"/>
            <a:ext cx="7781925" cy="584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1266</Words>
  <Application>Microsoft Office PowerPoint</Application>
  <PresentationFormat>On-screen Show (4:3)</PresentationFormat>
  <Paragraphs>393</Paragraphs>
  <Slides>29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Java &amp; J2EE Lecture 14: Servlet &amp; Tomcat</vt:lpstr>
      <vt:lpstr>Java Runtime Environments</vt:lpstr>
      <vt:lpstr>Java in DOS Window</vt:lpstr>
      <vt:lpstr>Java in an IDE</vt:lpstr>
      <vt:lpstr>Java in an Applet</vt:lpstr>
      <vt:lpstr>Java in Servlets</vt:lpstr>
      <vt:lpstr>Advantages of Server-side Java</vt:lpstr>
      <vt:lpstr>Tomcat</vt:lpstr>
      <vt:lpstr>Our Goal is Dynamic Content</vt:lpstr>
      <vt:lpstr>Apache HTTP Server as a Front End</vt:lpstr>
      <vt:lpstr>The Configuration We will be Using</vt:lpstr>
      <vt:lpstr>Tomcat Server Structure</vt:lpstr>
      <vt:lpstr>Processing the Request</vt:lpstr>
      <vt:lpstr>Key Servlet Packages</vt:lpstr>
      <vt:lpstr>Interface: javax.servlet.Servlet</vt:lpstr>
      <vt:lpstr>Class: javax.sevlet.http.HttpServlet</vt:lpstr>
      <vt:lpstr>HelloWorld Example</vt:lpstr>
      <vt:lpstr>Access Servlets from the Browser</vt:lpstr>
      <vt:lpstr>A Time Example</vt:lpstr>
      <vt:lpstr>A Space Example</vt:lpstr>
      <vt:lpstr>Interface: javax.servlet.http.HttpServletRequest</vt:lpstr>
      <vt:lpstr>Interface: javax.servlet.http.HttpServletResponse</vt:lpstr>
      <vt:lpstr>Structure of webapps</vt:lpstr>
      <vt:lpstr>Tomcat Administration</vt:lpstr>
      <vt:lpstr>.war Files</vt:lpstr>
      <vt:lpstr>Servlets: The good and the bad</vt:lpstr>
      <vt:lpstr>Advantages of Server-side Java</vt:lpstr>
      <vt:lpstr>Bibliography</vt:lpstr>
      <vt:lpstr>Slide 29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560</cp:revision>
  <dcterms:created xsi:type="dcterms:W3CDTF">2011-12-20T05:43:53Z</dcterms:created>
  <dcterms:modified xsi:type="dcterms:W3CDTF">2012-04-04T17:06:01Z</dcterms:modified>
</cp:coreProperties>
</file>